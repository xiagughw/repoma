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4e7463320c469e" /><Relationship Type="http://schemas.openxmlformats.org/officeDocument/2006/relationships/extended-properties" Target="/docProps/app.xml" Id="R9b9865babd4347e8" /><Relationship Type="http://schemas.openxmlformats.org/officeDocument/2006/relationships/officeDocument" Target="/ppt/presentation.xml" Id="R5b343285bddc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07b2efb60642e0"/>
  </p:sldMasterIdLst>
  <p:notesMasterIdLst>
    <p:notesMasterId xmlns:r="http://schemas.openxmlformats.org/officeDocument/2006/relationships" r:id="Rd7acd5ea5c894dce"/>
  </p:notesMasterIdLst>
  <p:sldIdLst>
    <p:sldId xmlns:r="http://schemas.openxmlformats.org/officeDocument/2006/relationships" id="256" r:id="R32abaf1d5b484471"/>
    <p:sldId xmlns:r="http://schemas.openxmlformats.org/officeDocument/2006/relationships" id="257" r:id="Rc87acd9159b34bc1"/>
    <p:sldId xmlns:r="http://schemas.openxmlformats.org/officeDocument/2006/relationships" id="258" r:id="R6f27861af7394827"/>
    <p:sldId xmlns:r="http://schemas.openxmlformats.org/officeDocument/2006/relationships" id="259" r:id="R5033dee002ac4444"/>
    <p:sldId xmlns:r="http://schemas.openxmlformats.org/officeDocument/2006/relationships" id="260" r:id="Ra3e66bf7293342f2"/>
    <p:sldId xmlns:r="http://schemas.openxmlformats.org/officeDocument/2006/relationships" id="261" r:id="R2e4116a2febd4246"/>
    <p:sldId xmlns:r="http://schemas.openxmlformats.org/officeDocument/2006/relationships" id="262" r:id="R6a55896142cc40e1"/>
    <p:sldId xmlns:r="http://schemas.openxmlformats.org/officeDocument/2006/relationships" id="263" r:id="R9536bca19132402a"/>
    <p:sldId xmlns:r="http://schemas.openxmlformats.org/officeDocument/2006/relationships" id="264" r:id="Rf599417d976b4c26"/>
    <p:sldId xmlns:r="http://schemas.openxmlformats.org/officeDocument/2006/relationships" id="265" r:id="R7ef98dbb5b1a451f"/>
    <p:sldId xmlns:r="http://schemas.openxmlformats.org/officeDocument/2006/relationships" id="266" r:id="Rd27be3e48b7e40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2f9de7e874790" /><Relationship Type="http://schemas.openxmlformats.org/officeDocument/2006/relationships/slideMaster" Target="/ppt/slideMasters/slideMaster1.xml" Id="Rab07b2efb60642e0" /><Relationship Type="http://schemas.openxmlformats.org/officeDocument/2006/relationships/notesMaster" Target="/ppt/notesMasters/notesMaster1.xml" Id="Rd7acd5ea5c894dce" /><Relationship Type="http://schemas.openxmlformats.org/officeDocument/2006/relationships/presProps" Target="/ppt/presProps.xml" Id="R0e976b2c32d4431c" /><Relationship Type="http://schemas.openxmlformats.org/officeDocument/2006/relationships/tableStyles" Target="/ppt/tableStyles.xml" Id="R49d7b7cd92fb454e" /><Relationship Type="http://schemas.openxmlformats.org/officeDocument/2006/relationships/slide" Target="/ppt/slides/slide1.xml" Id="R32abaf1d5b484471" /><Relationship Type="http://schemas.openxmlformats.org/officeDocument/2006/relationships/slide" Target="/ppt/slides/slide2.xml" Id="Rc87acd9159b34bc1" /><Relationship Type="http://schemas.openxmlformats.org/officeDocument/2006/relationships/slide" Target="/ppt/slides/slide3.xml" Id="R6f27861af7394827" /><Relationship Type="http://schemas.openxmlformats.org/officeDocument/2006/relationships/slide" Target="/ppt/slides/slide4.xml" Id="R5033dee002ac4444" /><Relationship Type="http://schemas.openxmlformats.org/officeDocument/2006/relationships/slide" Target="/ppt/slides/slide5.xml" Id="Ra3e66bf7293342f2" /><Relationship Type="http://schemas.openxmlformats.org/officeDocument/2006/relationships/slide" Target="/ppt/slides/slide6.xml" Id="R2e4116a2febd4246" /><Relationship Type="http://schemas.openxmlformats.org/officeDocument/2006/relationships/slide" Target="/ppt/slides/slide7.xml" Id="R6a55896142cc40e1" /><Relationship Type="http://schemas.openxmlformats.org/officeDocument/2006/relationships/slide" Target="/ppt/slides/slide8.xml" Id="R9536bca19132402a" /><Relationship Type="http://schemas.openxmlformats.org/officeDocument/2006/relationships/slide" Target="/ppt/slides/slide9.xml" Id="Rf599417d976b4c26" /><Relationship Type="http://schemas.openxmlformats.org/officeDocument/2006/relationships/slide" Target="/ppt/slides/slide10.xml" Id="R7ef98dbb5b1a451f" /><Relationship Type="http://schemas.openxmlformats.org/officeDocument/2006/relationships/slide" Target="/ppt/slides/slide11.xml" Id="Rd27be3e48b7e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41918a523643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d6bb4ee1e3489b" /><Relationship Type="http://schemas.openxmlformats.org/officeDocument/2006/relationships/notesMaster" Target="/ppt/notesMasters/notesMaster1.xml" Id="Rff9ceee12057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bdbe3474e2449f" /><Relationship Type="http://schemas.openxmlformats.org/officeDocument/2006/relationships/notesMaster" Target="/ppt/notesMasters/notesMaster1.xml" Id="Ree3205d6ee814c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e2e5a8f1254fe3" /><Relationship Type="http://schemas.openxmlformats.org/officeDocument/2006/relationships/notesMaster" Target="/ppt/notesMasters/notesMaster1.xml" Id="R94c744b2c9cc48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3ccab3982148f9" /><Relationship Type="http://schemas.openxmlformats.org/officeDocument/2006/relationships/notesMaster" Target="/ppt/notesMasters/notesMaster1.xml" Id="R5a09783c9e0245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a919490e3043b5" /><Relationship Type="http://schemas.openxmlformats.org/officeDocument/2006/relationships/notesMaster" Target="/ppt/notesMasters/notesMaster1.xml" Id="Rd77546b1c70f47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141bf3ea5f4224" /><Relationship Type="http://schemas.openxmlformats.org/officeDocument/2006/relationships/notesMaster" Target="/ppt/notesMasters/notesMaster1.xml" Id="R91c9600916f946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4b581e725248ee" /><Relationship Type="http://schemas.openxmlformats.org/officeDocument/2006/relationships/notesMaster" Target="/ppt/notesMasters/notesMaster1.xml" Id="Rd3089d9e4d8d46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97e032d705484a" /><Relationship Type="http://schemas.openxmlformats.org/officeDocument/2006/relationships/notesMaster" Target="/ppt/notesMasters/notesMaster1.xml" Id="Rb5a2243fa6524f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367eae7b374d86" /><Relationship Type="http://schemas.openxmlformats.org/officeDocument/2006/relationships/notesMaster" Target="/ppt/notesMasters/notesMaster1.xml" Id="Rd2dcfc4ff6574f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03858b184941c7" /><Relationship Type="http://schemas.openxmlformats.org/officeDocument/2006/relationships/notesMaster" Target="/ppt/notesMasters/notesMaster1.xml" Id="R18b1ccabc2874e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7665c5f4ca4380" /><Relationship Type="http://schemas.openxmlformats.org/officeDocument/2006/relationships/notesMaster" Target="/ppt/notesMasters/notesMaster1.xml" Id="Re539a3b4ba284d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ba062688d43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7038ee1e54df8" /><Relationship Type="http://schemas.openxmlformats.org/officeDocument/2006/relationships/slideLayout" Target="/ppt/slideLayouts/slideLayout1.xml" Id="R8dda4071a75b49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da4071a75b49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8cf027e5b4c64" /><Relationship Type="http://schemas.openxmlformats.org/officeDocument/2006/relationships/notesSlide" Target="/ppt/notesSlides/notesSlide1.xml" Id="Rbdb93fc249384e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b382f3dda4cb2" /><Relationship Type="http://schemas.openxmlformats.org/officeDocument/2006/relationships/notesSlide" Target="/ppt/notesSlides/notesSlide2.xml" Id="R3dc02cac1e5240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23803abeb42ec" /><Relationship Type="http://schemas.openxmlformats.org/officeDocument/2006/relationships/notesSlide" Target="/ppt/notesSlides/notesSlide3.xml" Id="Raebe7e87358e43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d51aa1c9b42e6" /><Relationship Type="http://schemas.openxmlformats.org/officeDocument/2006/relationships/notesSlide" Target="/ppt/notesSlides/notesSlide4.xml" Id="R373752fc41bd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99055427c4b49" /><Relationship Type="http://schemas.openxmlformats.org/officeDocument/2006/relationships/notesSlide" Target="/ppt/notesSlides/notesSlide5.xml" Id="Rb39af1c1813b4d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0d19db2f84bc4" /><Relationship Type="http://schemas.openxmlformats.org/officeDocument/2006/relationships/notesSlide" Target="/ppt/notesSlides/notesSlide6.xml" Id="R7fd7badcce544d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46180ff1c467a" /><Relationship Type="http://schemas.openxmlformats.org/officeDocument/2006/relationships/notesSlide" Target="/ppt/notesSlides/notesSlide7.xml" Id="Reed24a267ab6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e61e29bd143a8" /><Relationship Type="http://schemas.openxmlformats.org/officeDocument/2006/relationships/notesSlide" Target="/ppt/notesSlides/notesSlide8.xml" Id="R89681c3f8ce34e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afa1916094ecd" /><Relationship Type="http://schemas.openxmlformats.org/officeDocument/2006/relationships/notesSlide" Target="/ppt/notesSlides/notesSlide9.xml" Id="R8ae2f5ebb6a546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013d871594f2a" /><Relationship Type="http://schemas.openxmlformats.org/officeDocument/2006/relationships/notesSlide" Target="/ppt/notesSlides/notesSlide10.xml" Id="Ra01b9b755a9d40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713a9f2c64705" /><Relationship Type="http://schemas.openxmlformats.org/officeDocument/2006/relationships/notesSlide" Target="/ppt/notesSlides/notesSlide11.xml" Id="R86d8c36572f14d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9AE322-E196-4628-A02D-F206716C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034FB-BFE7-4B7A-B247-44C30A30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Masterarbeit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13DCA-3139-44CB-A414-EA6F5DA6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01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34"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3600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LLM-gestützte Funktionsklassifikation</a:t>
            </a:r>
          </a:p>
          <a:p xmlns:a="http://schemas.openxmlformats.org/drawingml/2006/main">
            <a:pPr>
              <a:defRPr sz="3600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3600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von Baugruppen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081B7-5F1E-4F61-A80D-AE482F67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Zwischenpräsentation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8F4BF-E7F1-4184-BDCB-F683B920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286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52AA6-FC46-4C33-B678-0631716B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286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B6DF3-BEF2-4D4C-80ED-6F39A549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Ziel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1C62B-0303-4192-A987-7A7B7326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2915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18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Sieben Funktionsklassen aus technischen Baugruppenunterlagen automatisch bestimmen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EAAAE-2E29-4F5D-949C-584FB72E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14850"/>
            <a:ext cx="79057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9140F-D6BD-4675-94D4-7F9E99F2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95750"/>
            <a:ext cx="3286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90945-5C48-4F22-B2DD-CF45DF58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95750"/>
            <a:ext cx="3286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C10F4-C5D9-4031-9093-DBF5A5EC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309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Methode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E7806-720B-4FD9-83CA-14B5780B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62915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LLM-Experimente mit PDF-, Bild- und Texteingaben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55C6E-8DD0-4670-8488-B01520CA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14850"/>
            <a:ext cx="79057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AAB86-4BDC-4057-9C82-52D750B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23DE8-720C-4BBB-BA8A-A6CCD899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69837-64FC-4F0D-B83E-AAA4753B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338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AFDED-9689-4B54-9B1C-E42B9935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6291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Codebook</a:t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Workshop</a:t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Metriken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0A9A8-085A-4681-9E3E-0D992F4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Bosch Manufacturing Solutions × Universität Stuttgart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937B8-2D54-4CA8-AE49-B01479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F228E-A073-446F-B16A-F1551CAF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4BC81-0BEB-4022-A1A1-A33B1998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68CF5-3293-4F83-AC00-726D06C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BEBBB-B65B-4942-BDF2-DA384DE1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EF39B-AACA-4B6E-8077-E8B65B0F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CDD8E-1019-49A7-948A-3FEAB482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74C11A-F4AA-4C42-BFC2-273F82A3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C18FE5-FA42-4637-A51A-E4E5B83F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3FB29A-146C-4729-8519-03C02A43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9CB36B-B376-4275-80F8-6F6F8234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</p:spTree>
    <p:extLst>
      <p:ext uri="{BB962C8B-B14F-4D97-AF65-F5344CB8AC3E}">
        <p14:creationId xmlns:p14="http://schemas.microsoft.com/office/powerpoint/2010/main" val="621710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E1A3E9-5BA2-4592-A7AF-829554A0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Übersicht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1496D-CF99-48AB-9201-8708B32F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Projektzeitachse und Vorgehen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9082B-8891-4B2E-8DF4-11825631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3AD3E-3E52-49A1-8E96-CCB9ABDB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7C243-8B1E-4419-8374-2CA5B376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BBFA2-0210-4D3D-93A2-B1FCAFB2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6B539-CC54-46C3-ACFA-C0E1CCB4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DDA5A-7003-4295-88B1-1075634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22EE5-3E2F-4802-B28C-2C71A409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434D5-A0F5-45BF-B057-81B6C1B9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81648-DFEA-4864-8902-2BFFA964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CBBA7-EE19-4AE6-9255-9AFA7114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E42C3-FAD5-4DD1-B681-5B8D5475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F2970-CCB4-4B2E-B5C3-21BE11C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0001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A2238-4C04-4B4B-A16A-16C8EADC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09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7A1AC-17B3-44EC-8C70-A8CE348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Jun 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CCA20-DE1F-4713-B58A-CC140838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FDFD1-EDFF-4447-B2C0-91F556F0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Projektstart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34DEE-CE81-4DD8-84B9-FAD0E252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09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09952-3830-41A9-B1AB-C4A5472D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8097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Jul–Aug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6506A-07B9-4B16-94FF-E698C05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C2741-92DC-4D35-9AA8-6C67C703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94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Datengrundlage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und Codebook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2F4CB-C2F0-444A-AE53-78A658F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209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0D5DC-880B-4682-9BFC-475BEB5D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097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Aug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A1750-31B0-4E62-8141-E54DDA8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F057B-C212-4D20-9024-8FB3EF37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767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Workshop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und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0223C-9F02-4EDC-B740-D6B2804C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09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92D"/>
          </a:solidFill>
          <a:ln xmlns:a="http://schemas.openxmlformats.org/drawingml/2006/main" w="14288">
            <a:solidFill>
              <a:srgbClr val="5F8F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27068-EBD0-43E1-9CE8-681E044B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8097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9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Sep–Okt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E581D5-7DEB-40AF-B657-1A7A254F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097AE-41E7-44C7-AEAF-C0595D57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LLM-Tests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F3DA56-5A3F-4129-AD19-598429AA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09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2423A3-0B4C-49B7-AB63-D41BDF06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8097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29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Nov–Dez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E48134-8664-4548-B6E4-5589B310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DB202-E6EF-4E7E-B966-B113D894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767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und Thesis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61D324-ABEA-4AB1-AB65-0FC4C27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52550"/>
            <a:ext cx="381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AAD4A5-BBAA-4A97-9A77-2F07EA03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8112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8F1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F8F1C"/>
                </a:solidFill>
                <a:latin typeface="DejaVu Sans"/>
                <a:ea typeface="DejaVu Sans"/>
                <a:cs typeface="DejaVu Sans"/>
              </a:rPr>
              <a:t>aktueller Stand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B64DF7-4C86-4A30-8B2C-5CBE349B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67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Von der nachvollziehbaren Ground Truth zur Auswahl einer robusten LLM-Konfiguration</a:t>
            </a:r>
          </a:p>
        </p:txBody>
      </p:sp>
    </p:spTree>
    <p:extLst>
      <p:ext uri="{BB962C8B-B14F-4D97-AF65-F5344CB8AC3E}">
        <p14:creationId xmlns:p14="http://schemas.microsoft.com/office/powerpoint/2010/main" val="1787158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336AD6-960C-4312-AC52-6C9A1E3E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Experimente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7BC34-002A-4BEE-9E27-1B98A1BB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Datensatz und Evaluationsablauf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45156-7B19-410E-A926-5792007A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39E35-B030-48DD-8F6D-EC5BCED4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07B8B-80E3-4FF8-B836-6F6AB8BE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F556A-7F74-450B-9A66-D56F39BC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5B358-450E-4F9E-8778-260D084E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70151-033B-4B22-B95D-88F07F53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9DA34-83DA-4237-80F6-C0A644E5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ECD59-E469-4379-8BF8-6B636A67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7D69B-7425-4674-A7AA-9FED537C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68081-C7A5-42BD-9AA7-03E06352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D55E2-BF84-4DB2-B74B-9302A4CC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889C6-9E8F-43CE-8CA9-25DEF6BE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571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06603-E8BC-44F7-8941-D7AEB343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9A8B2-ADFF-4E07-81C8-361A8E0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5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Baugruppenunterlagen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DBEDC-DED5-46D5-A9E4-7A34699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05025"/>
            <a:ext cx="228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PDFs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Technische Zeichnungen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BOM / Stücklisten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Screenshots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Extrahierter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86869-7111-4BF8-A343-AEAE5953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7429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9061B-F5C1-44AB-B16D-D7D0DAEA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28575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A6EA5-4FAD-4750-A971-8439417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7DC92-EA92-4F92-BA7D-40039EE8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97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0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Codebook &amp; Ground Truth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30FB6-641B-419B-90AD-25C5D9FE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05025"/>
            <a:ext cx="2571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7 Funktionsklassen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Workshop mit 16 Teilnehmenden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Manuelle Prüfung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E1 / E2 /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DF1AC-FAFB-463C-9A40-3C6BBABF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7429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9E0E5-3346-458F-B13A-852ECB86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33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D4144-1ECC-4A49-948A-3EDC84AA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3333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D4F944-56FA-4332-9C33-B7FB30BA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097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LLM-Experimente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63095-94E3-4C26-B290-B244675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Modelle, Prompt-Varianten und Eingabeformen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CDD20-9837-4EEC-B520-C7F45613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E0FB2-8E53-4A84-83D5-5E4BDCC0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333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095098-C2F4-4B3E-86C2-299E5C65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AF42D-BE30-4DCC-A10B-4A8AC9AB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48150"/>
            <a:ext cx="304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Strict Primary-Label Accuracy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Allowed-Label-Set Accuracy für M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Macro-F1 und Fehleranalyse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AE1DA4-AD1F-40C5-B9B8-2A35578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813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Vergleich mit der vorab dokumentierten Ground Truth</a:t>
            </a:r>
          </a:p>
        </p:txBody>
      </p:sp>
    </p:spTree>
    <p:extLst>
      <p:ext uri="{BB962C8B-B14F-4D97-AF65-F5344CB8AC3E}">
        <p14:creationId xmlns:p14="http://schemas.microsoft.com/office/powerpoint/2010/main" val="2087156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5BA1C1-2E9A-45B4-82D6-C3C44BE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Ground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02753-DE6E-4E66-BF19-BD73FB7C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872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Workshop, Übereinstimmung und Bewertungsregime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DD354-1754-435C-9329-42934C4A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1EB26-47F8-454C-B42F-8A73C2C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99EE5-50E3-43A8-B3FE-8BB1DE87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D9021-3970-4D98-985B-E95D6118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694EE-8FC7-4F1D-8139-50CB0EFC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30A40-BF84-46FE-82BD-3653125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EEDDE-5234-4BDC-B92A-46F9725A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9B7F4-EB5D-4F42-ADB6-600851B2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9B2C7-AEB3-4C2F-B2D4-144D6EC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EB8F2-7B93-4394-8C42-A4FAC6E5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3470F-F8C5-4B21-8111-A40B343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AEF99-16F3-4F8A-B2B8-0ECDB01F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28CD6-E427-472F-8405-CAD0BD4E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7E1DF-B2AA-4008-93E9-2273B86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C1CEC-9E91-4016-BF51-29EFD80F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03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16 Teilnehmende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4 Ingenieurinnen und Ingenieure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12 Studierende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Unabhängige Zuordnung auf Basis desselben Codebooks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F9A74-C686-412E-904B-3FA095D5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8E5EE-B087-4519-8DEB-A99AFC13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3333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34D0A-B6EF-4304-8507-7D08C54F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Interrater-Übereinstimmung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C7743-C4B5-43C7-8823-76BAF5C7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57400"/>
            <a:ext cx="304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Eindeutige Baugruppen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Krippendorffs α = 0,806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014E5-912F-4931-B589-BCBC0A31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E30D1-3B81-4FCE-BE79-99CCE86B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333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A3CE1-11F8-4DA1-B7D2-F7B9CD2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Mehrdeutige Fälle einbezogen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BCA4E-1D0D-473A-9A8D-9BF603E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04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Eindeutige + mehrdeutige Baugruppen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Krippendorffs α = 0,751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C8971-22D2-4CBD-87A5-3BE4886F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A6F028-651C-4113-974D-323262B5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02B20-7A86-41A8-9EFB-905B5E2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338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04F1B-61E1-4165-92E1-4DDD2A52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Eindeutig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Codebook-konform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vollständiger Konsens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7D4EB-020A-4F7B-971E-E6D9B976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142519-F4AB-4AD4-A9F7-E637B476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04C5E-3014-4684-B23E-1A1A9E0D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6A7A1-740A-4034-92A8-E44B8AD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291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Eindeutig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Codebook-konform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abweichende Einzelmeinung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3C9AA6-2899-4403-80B0-76C1EF1B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95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B33DC3-229F-4D4B-BC33-3934FCA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95750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4C8764-54BC-4ACA-AC7A-BB586695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338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FE1BC-6733-4B40-A61D-022E466F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Mehrdeutig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mehrere zulässige Klassen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nach manueller Prüfung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7F4DE2-7DCC-439D-9348-5A2162D3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Die manuelle Prüfung definiert die Referenz für die anschließende LLM-Evaluation.</a:t>
            </a:r>
          </a:p>
        </p:txBody>
      </p:sp>
    </p:spTree>
    <p:extLst>
      <p:ext uri="{BB962C8B-B14F-4D97-AF65-F5344CB8AC3E}">
        <p14:creationId xmlns:p14="http://schemas.microsoft.com/office/powerpoint/2010/main" val="1887878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0E9C2E-F5BE-4215-8241-E18A5578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Bewertung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28722-E917-4594-9C9A-7E523F8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Label- und Bewertungsvarianten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86125-8673-492F-81C6-02A878DE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FE5DB-8F59-4951-BE6D-83B6FCA3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05CAE-0523-417C-AF06-8EC0CA48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D5087-C60F-4923-8C18-647D320C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E253F-08AE-4EAB-BCA0-D0E17EEF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AF289-0D33-4D46-9D96-D7A57741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FD810-FF17-47E8-ACF4-B69C8E52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EEEFA-AC07-47C9-BED6-DC70480E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8746F-0350-4CEE-B054-60B5CA1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AF8D2-B508-486D-A8B6-C473D9A7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61A62-4A1A-4948-B819-1E7AC81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5F537-F10C-4C92-B3CD-77FDE1C3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Stratifizierte Auswahl: 14 Baugruppen, davon 7 E1-Fälle mit je einer Baugruppe pro Funktionsklasse sowie 7 weitere E2-/M-Fälle.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7A50B-75C8-4C3B-9A03-89107844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7AB75-6E59-4BF4-BCE7-8723ADA2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8297B-F664-40D9-B2EE-BC1ABDC9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V1  Nur Primärklasse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5BD8D-72DE-4C79-81FB-52F0B0FA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71775"/>
            <a:ext cx="2571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Eine Funktionsklasse pro Baugruppe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87723-EE26-4A0D-841B-047E4025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95625"/>
            <a:ext cx="52387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BA80B-5979-49BE-8549-898B9541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8FFAF-1CB3-44E0-95C7-EE54E855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B5B34-D614-4A2C-9A0C-A1CFED7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76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5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V2  Zulässige Alternative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65327-7FC1-4D3E-B86C-311E295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71775"/>
            <a:ext cx="2571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Primärklasse plus dokumentiertes Alternativlabel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764BE-5BE9-4250-B72A-2441D51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95625"/>
            <a:ext cx="52387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2EECA-F907-4C20-91CB-76F29178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11592E-0C4C-4084-A62C-6F4DFC0C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C44D1-F927-42FF-9FBF-E0B78AEC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7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V3  Nicht entscheidbar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75F96-3DC7-4057-8433-619D3598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2571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V2 plus Option bei nicht ausreichender Information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584E8B-0A56-4917-BF6D-3299E6F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371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8F5DA5-3EF0-46DD-AFAC-2F28691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EBF461-742D-4C93-A6A1-D0B560B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434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Strict Primary-Label Accuracy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B5EFC-D029-4A0B-B582-8785B391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387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43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Korrekt nur bei Übereinstimmung mit dem Primärlabel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A1F092-10E8-4054-80D8-02BAD7C4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371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930A6-0095-43E5-B39A-7CC1F6B0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88037C-042B-4712-917B-FF47B886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Allowed-Label-Set Accuracy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5C3A2E-9952-4E72-A214-44FCF171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387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Für M zusätzlich: Primärlabel oder dokumentierte zulässige Alternative</a:t>
            </a:r>
          </a:p>
        </p:txBody>
      </p:sp>
    </p:spTree>
    <p:extLst>
      <p:ext uri="{BB962C8B-B14F-4D97-AF65-F5344CB8AC3E}">
        <p14:creationId xmlns:p14="http://schemas.microsoft.com/office/powerpoint/2010/main" val="1396948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84CC05C-06E9-4C7F-B0F6-7B8CBC7A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PDF-Experimente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ED5E0-D157-4A93-A3CB-4F78ABB1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Prompt-Varianten und Modellvergleich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3A84C-64C0-4B96-BA26-20F086F0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F431B-5E78-4ABE-9EA6-76D961FC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2F3B9-BE27-46AC-B669-796AF9DE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6725A-083E-4866-A4C1-861BB94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46B43-D208-4812-A943-66B12771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F7D8E-22E2-4216-A61F-8BF18649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43F29-44B7-4131-B27C-0636865A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11B2D-1691-4E4A-B05D-2190BE8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51918-564B-4C88-9421-51068CB7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63612-4E9B-4354-BBD2-4059FD50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EFAD1-879B-49DE-BBB4-A211F2A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606A2-C42F-44FF-8398-73012B34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2619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69D86-8A0F-4FB3-A718-5835285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2619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45E65-A3EF-4D16-9D06-92805932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P1  Klassenamen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88D6A-9C25-4AA9-BF17-BF633754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2333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Nur die 7 auswählbaren Klassen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DAD03-23C3-4F39-A408-2F145C75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619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54B5B-BEE6-48FC-AB7F-7A792F8E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619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1D719-5CFD-4017-A2D4-0E1D96E8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144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P2  + Definitionen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4662B-2FE7-4290-BC39-0EA47B89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09775"/>
            <a:ext cx="2333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Definition jeder Funktionsklasse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328D3-0924-4E85-B408-FA24089B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2619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5DAFC-D5FB-4D48-B8C4-8F4B7CCE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2619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5C81E-4CFB-48FA-9D1C-DB55B843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144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54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P3  + Entscheidungsregeln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48FEC-6BE9-4857-80EC-013787B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9775"/>
            <a:ext cx="2333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Codebook-basierter Klassifikationsprozess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09F27-7E02-412C-92B0-09002FBD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76375"/>
            <a:ext cx="2619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81D4A-D7A9-46D7-B1EF-179344A8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76375"/>
            <a:ext cx="2619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E793DF-29D4-441D-B5C6-5801B442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2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P4  + Beispiele / Ausnahmen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FC0F7-9586-4AA7-ABC5-BCCA06F2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09775"/>
            <a:ext cx="2333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Konkrete Fälle und definierte Ausnahmen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746C9-024D-46F5-B9AF-49BB2F81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Strict Primary-Label Accuracy bei PDF-Eingabe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DACAC8-5BF0-43D5-A4BF-9652E52A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099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5F82A5-2553-4BDE-B9AC-A9EA60FF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05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638454-467A-4FBD-9706-09019C6A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099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290E6A-0D7F-4F01-AD3E-8541EFE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05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B66DC-D777-49EA-84A5-DE1AF43B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099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FD6568-B6E6-436C-897D-C204353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675E98-B429-476B-81D8-68A780A1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099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0CB666-FAA9-4890-B1D6-DE9F11D7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05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8A33A-0677-429C-9D45-1A9BAB0C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A64AD0-2101-41EB-BBC9-06548390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Gemini 2.5 Pro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4AA382-BDE8-486C-805B-95B66C61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242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DAEEF8-3ACF-4E9F-B0F6-06AF4D15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67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1A01BE-4E93-49C0-8C7F-707EF3A5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242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495FA8-6CE1-4D12-9227-B0F776B6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67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A7A454-A5F9-4610-94CE-995BE797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242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9F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99AB71-1236-4033-A0AA-7813D144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67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13753D-7EAE-41AF-9B14-39D7F6D7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242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1E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AEA539-E07D-4F0A-A040-3C22C6CE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67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4518B2-E60C-44F9-906F-B9059015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40AC59-BB03-483E-A185-D0D08A77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243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Gemini 2.5 Flash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A9A19F-BA1C-4049-B9C2-B7BA38A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38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5693B4-23DA-4051-B434-2CA33CF1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815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BB998F-FE44-4B2F-9609-1B5FA2A8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38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92B3C1-E10D-430E-8B45-36DDBB2B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815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78AC13-2D23-406F-974B-C81A9FE5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38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9F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EA2827-638B-4D01-8DA6-8D6BD8E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815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30B8FA-8470-4801-8C54-FDFEC4AF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38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1E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292205-A054-4D65-B603-0328BFD9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815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D7733E-399A-48F2-BF1F-74C7EE68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52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26203E-EEED-4640-B537-0B752EED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387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Claude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66CF30-2FFE-4B63-AD9D-947F83A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52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59E8CF-38D7-413F-963A-04A35A46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8958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BFC111-41FB-4EF3-ACBE-4992C710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52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8E7ED8-01AA-4641-BB82-57143F98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958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E854657-8CA0-4AFF-BD13-A01E2555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52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9F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211A8B-B732-49C3-A7CB-7E22738E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8958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7810BA-B805-4260-B6B0-4E3DC2A0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52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1E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2B385A-763D-41BB-A1BC-FB860A0A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958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D72934-047C-4F5F-969B-D7F095C3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67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19FFDF-DDDF-4C56-8BF1-2385A54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530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GPT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634FE7A-D95E-4480-B173-3D9B4ADE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67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80F198-A71A-4381-827E-93117E0F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102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4281BD-79DB-4EFE-91FE-851D6C22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67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D14554-9CD8-481A-BBDD-4B95DDA9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102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78139EE-66C8-4737-9E3C-4F254220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67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9F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64321AE-43CE-4B6D-ADD1-CD566E4A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4102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57589CA-42C9-4200-9CCD-8DEE0445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67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1E6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00D73A-ADE5-4531-B7FE-DE5C8DB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102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Auswertung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0F0755-4A4E-4ACD-B90E-BB44418A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90875"/>
            <a:ext cx="1714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AAD0C3-3ED2-433E-84FB-DA830C6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908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0703A5-A179-49B3-922E-366C474D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289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Ergebnis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F511263-E576-4BD5-85A1-52CE7CB0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24275"/>
            <a:ext cx="142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16 Kombinationen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Strict Primary-Label Accuracy</a:t>
            </a:r>
          </a:p>
        </p:txBody>
      </p:sp>
    </p:spTree>
    <p:extLst>
      <p:ext uri="{BB962C8B-B14F-4D97-AF65-F5344CB8AC3E}">
        <p14:creationId xmlns:p14="http://schemas.microsoft.com/office/powerpoint/2010/main" val="304141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AB89AE-8FAA-4E3B-ABD7-B9B066B5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Wiederholbarkeit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9357A-DD8E-408B-9BF8-F5626790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Stabilität der finalen Konfiguration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E4C7B-9951-4304-A33C-77A5696C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5EC4E-86D4-4A57-A4CC-8F3A960A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F5E07-D66E-4167-8CDD-90AE552C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DBEB3-D9A4-4DA6-915D-1EFE83B1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EDAE6-5FE1-4396-BD4C-A026781C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DFF90-9C36-4513-9AE6-29A2FAB0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F9CAB-01F9-4413-B246-B1E5DE7F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AC33C-FE88-45F1-B34F-9D66CDC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A518E-5BA8-4CFA-A7A8-79B1DB36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CC3EB-A58B-4166-B98B-028C08B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90789-E39B-4DC0-B664-524BB41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16838-7887-449C-8B4A-968C9C8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B1C08-12FA-4F3E-A9FB-1E83AE6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4BAC3-F81E-4CFD-95AA-B12DFD18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Konfiguration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26250-2CC1-4D6C-807C-F71D66CF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01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Gemini 2.5 Pro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PDF-Eingabe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P3 optimized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F4435-90E6-4F17-A0F6-578C652B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3143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4F0CF-5918-4CC6-B578-E0A8E6FA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A7DF5-E65B-4EFB-8278-63F1E4FE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Wiederholungen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03AB7-4140-4D17-B2F9-D3BE670A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11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10 unabhängige Läufe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identische Baugruppen und Einstellungen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6AF25-C4D6-4237-B99D-17F963C2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671512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2623F-ABF9-4E17-B91D-0AE87AFD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020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Strict Primary-Label Accuracy und Macro-F1 über 10 Wiederholungen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172AB-6088-4D71-9BE8-2E462163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19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872"/>
          </a:solidFill>
          <a:ln xmlns:a="http://schemas.openxmlformats.org/drawingml/2006/main" w="0">
            <a:solidFill>
              <a:srgbClr val="5E687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BEE5A-E002-494D-8B23-8613FB7A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872"/>
          </a:solidFill>
          <a:ln xmlns:a="http://schemas.openxmlformats.org/drawingml/2006/main" w="0">
            <a:solidFill>
              <a:srgbClr val="5E687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BB4D4-6118-4639-A709-8CE5D787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6F9FE-E0AA-4524-816A-C40C3A9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EE41A-6169-411C-8E09-88442DE9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712739-42D9-416D-811A-3DE1209E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F16E59-928B-440F-AEC8-2C7E095F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3B3D0-1D11-42E1-BC2E-7F510A04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D98980-226D-4ED1-B45D-1D874DF4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200A9E-89A7-4F20-8165-84F20BA1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00AAD-90FF-4508-A77B-085BB8DE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944130-5682-4DAC-AE98-F5A0669F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461290-C08A-4E0F-B7B0-A60F4AE7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C9E7A-3FAB-45BB-AA82-CAED5285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5B0288-D16D-4CE9-9BBE-50F35CAF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A81374-6F41-4E52-B90D-2B02EB90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E5E4A6-4556-4445-A489-FE394A30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C1C349-C5AB-43A2-8DAD-DFFE9342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9743FD-B134-471B-AE2C-A34FC591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17E76B-7490-44AB-8310-B553534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91D95D-036B-4CA3-BD9B-9C38E548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19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7EAE6A-6340-41FC-BEAF-95BD38A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5645C7-8ACB-40F8-AAC2-E537126D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40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Diagramm nach Batch-Auswertung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516EEC-3548-4813-A440-B51C53E0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F96D62-92FF-4C76-899C-56D5ED19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1C99E5-194A-4E2A-B3A8-93459DCD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292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Mean ± SD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1B0785-1721-486B-95D7-9A325858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24525"/>
            <a:ext cx="20955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Strict Accuracy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C944FB-0CA0-4587-B365-3BD35802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065708-63B5-4669-931C-35F6547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D2BBF2-C053-46F0-83FE-65B0B7C9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Mean ± SD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D78C4E-AD4E-4E96-AB27-E5EEB1F5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24525"/>
            <a:ext cx="20955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Macro-F1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D5878A-14FE-4B56-8BBE-655D9B20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11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082E9A-8756-49D5-8C33-88B0B306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11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A54488-A21E-4C47-8CA7-CEBD4A2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292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Range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813900-C16C-4015-9101-76F828E1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724525"/>
            <a:ext cx="20955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Min. / Max.</a:t>
            </a:r>
          </a:p>
        </p:txBody>
      </p:sp>
    </p:spTree>
    <p:extLst>
      <p:ext uri="{BB962C8B-B14F-4D97-AF65-F5344CB8AC3E}">
        <p14:creationId xmlns:p14="http://schemas.microsoft.com/office/powerpoint/2010/main" val="1753552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95EA13-A50A-4F0D-87ED-20D691A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Eingabeform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4D66E-9AF8-4F31-9F72-6871172D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PDF vs. reine Bild-Eingabe bei P3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CB9F3-4208-4A2D-8EC4-E9D04C61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02D99-C88F-47A5-B3C9-64114A3F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2BA92-6477-42DA-BB86-C04C1A01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5FD9B-22FB-4D69-AF96-84AC235A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C036E-66DC-4B9B-AA5A-5BC6EC55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E6A9B-7045-4A94-815B-89470461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838BB-4187-459A-80CF-F97B00DE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F1F7E-3C96-4B6F-AF14-B285B4A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87828-9FBD-42DA-BCED-A80DBF67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4DD65-2EF1-4B1F-A87F-427473A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4C926-8379-4959-AC2E-D9E910F5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B5B97-05D5-44D7-BA8D-4E45ACB1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2428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11BA5-ECDB-4B83-B1EE-9F2EE97A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2FDCF-1FC1-4463-A702-45525A36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Kontrolliert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8B2EF-76F0-45F1-9EC4-CE8E8F70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2143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Prompt P3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Vergleich nur gemeinsamer Modelle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0AC23-FC70-4359-8239-24FDDBC2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CFDEC-E337-4566-BAA5-0DE9314E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817EB-ECFB-462A-A8FA-AC47D68A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9B65C-E767-4D3B-91BE-C650A905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143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Nur visuelle Dokumentinformation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40BD5-7E13-4B8F-8AF1-00CD413C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80962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7F281-1C12-4EE0-92C6-9840E998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64293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ACC99-F203-4D7E-9D37-D0FB03F1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02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Strikte Accuracy je Modell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B903C-B9F8-448D-BA95-C3CD1FFC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43125"/>
            <a:ext cx="19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872"/>
          </a:solidFill>
          <a:ln xmlns:a="http://schemas.openxmlformats.org/drawingml/2006/main" w="0">
            <a:solidFill>
              <a:srgbClr val="5E687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3BF27-9FB1-4CE9-B0B9-C0541C10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4337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872"/>
          </a:solidFill>
          <a:ln xmlns:a="http://schemas.openxmlformats.org/drawingml/2006/main" w="0">
            <a:solidFill>
              <a:srgbClr val="5E687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CF3FF-8F6F-4893-BFF2-9BA92BC3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9875"/>
            <a:ext cx="342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405AE-CAB3-4E9B-9F1D-E9FFC121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95625"/>
            <a:ext cx="342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4F3C9-7C6F-4837-B7AA-EBEC43F4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Modell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5CDB8-7BE3-4D42-ACD4-B121570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342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DCE57-0C5E-4966-95EC-CC7A2523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95625"/>
            <a:ext cx="342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8286D-53E0-492E-93E2-8A74AECE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86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Modell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75D3D6-9E37-450E-A74E-9A099F7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342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FF453-36AD-44AD-8925-06C554AD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342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B9055-F666-4A9A-B8E1-2AF0DF6F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Modell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11D085-226F-4908-8287-B257FD3E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342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B518B-51CC-40E0-83C1-70765278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95625"/>
            <a:ext cx="342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3180B8-DBA9-4FDB-8780-5B0C38B1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86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Modell 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EA662D-1167-4EC3-9D5F-F0BD98BB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647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8B4A8A-1FB3-4F1C-AC2C-9FA343EB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PDF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5A222-E008-4A87-8F9E-2111B95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A3E12B-3B51-41E0-9D58-242A43E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717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Bild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EE3F2A-E302-4C74-A108-D14B05DA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671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Werte aus der Batch-Auswertung einfügen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58D8E3-E09A-45E6-9420-09CC0A4B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838507-6FE5-450B-BF70-408580FC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723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71C432-2148-4169-96BF-8410BE9B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86350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Interpretation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15199D-98A6-435A-ADD8-94DA198C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81650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Wie stark trägt der visuelle Kontext ohne extrahierten PDF-Text zur Klassifikation bei?</a:t>
            </a:r>
          </a:p>
        </p:txBody>
      </p:sp>
    </p:spTree>
    <p:extLst>
      <p:ext uri="{BB962C8B-B14F-4D97-AF65-F5344CB8AC3E}">
        <p14:creationId xmlns:p14="http://schemas.microsoft.com/office/powerpoint/2010/main" val="1187281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BE38ED-7D79-4B0D-96C2-F379CB56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Eingabeform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F88E3-A0F5-4666-90C1-D46F31B4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PDF vs. reiner Text bei P3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ED5F0-F2B3-43D2-AD71-EEBF932E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30447-8F15-4FE7-8599-AC2ED513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4CBDF-5FC0-4BDC-A190-2337890A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F429E-A03E-453A-8106-CDA78848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BE8C1-6132-4653-A835-624AE2D3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4A19C-98A8-4121-9EF1-8B445A18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06872-8522-45DF-8F60-B273A580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06832-8AC8-4045-9307-E2B28A0A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628AF-B22A-46A7-B749-C73A06BF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D08FB-1672-4614-84D9-A3E9984C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AB59D-85CB-41CB-9F1B-DC347924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1FFF9-7BD9-4222-AC1A-7EEDC845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2428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F50E3-1158-4E04-AE4E-D7F68CB1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E058B-A526-4D30-9AE8-58AE700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Kontrolliert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AFA16-B7C9-46D7-A90B-CDCF68BB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2143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Prompt P3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Vergleich nur gemeinsamer Modelle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00EEA-9AAC-4145-B839-A6162082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783B3-DD08-4363-96A8-73B7E9A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2C98E-4458-4EA9-80B7-860F588B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159EE-3FAC-4A54-9C4D-A342CFF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143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OCR und extrahierter Originaltext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82716-E0DF-4D13-BAC8-1A36A515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809625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C76D2-55A9-4907-8ED7-22C9C94D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64293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FC508-C60A-4111-9277-007AB750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02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Strikte Accuracy je Modell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2C7AD-C2DB-49BA-9481-9C15A55B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43125"/>
            <a:ext cx="19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872"/>
          </a:solidFill>
          <a:ln xmlns:a="http://schemas.openxmlformats.org/drawingml/2006/main" w="0">
            <a:solidFill>
              <a:srgbClr val="5E687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C96B2-7BCA-4622-80F5-AD60EB90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4337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872"/>
          </a:solidFill>
          <a:ln xmlns:a="http://schemas.openxmlformats.org/drawingml/2006/main" w="0">
            <a:solidFill>
              <a:srgbClr val="5E687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A1ADD-209A-4EA3-BC1F-68CD12C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9875"/>
            <a:ext cx="342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7B267-9386-45EE-A6F3-CC5BF607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95625"/>
            <a:ext cx="342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9015B5-034A-45A4-A94D-1507680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Modell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35086-A608-432B-8F0D-9C1289A5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342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E8F50-5AD1-4C0F-82E0-8188F91C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95625"/>
            <a:ext cx="342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47C00-6B42-413E-89FB-221A6456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86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Modell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CEC02-78DC-4BB9-B371-D315F9F8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342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C74CAE-3240-4E99-8FD6-E49550A9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342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EB6A1-F78F-4D36-84C9-E5AE2A5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Modell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56C29-3C10-4D62-80BA-B31C03D9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342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624487-619A-4BFB-BE1E-D55D9DCB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95625"/>
            <a:ext cx="342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6E1FA3-87BD-4AB8-8730-1EF634DD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862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Modell 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2DCEC6-1456-4D70-9A2D-D134A85D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647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061F08-101E-4ED4-A573-F726B460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PDF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0F494D-8B24-4721-8823-2055E83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BB4E3"/>
          </a:solidFill>
          <a:ln xmlns:a="http://schemas.openxmlformats.org/drawingml/2006/main" w="0">
            <a:solidFill>
              <a:srgbClr val="7BB4E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314AEF-0A00-4C8C-8F4C-068102D8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717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Text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B07699-3CE0-4911-9810-033BF0EC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671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Werte aus der Batch-Auswertung einfügen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8A2600-E7CD-4727-A078-A885563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4A6A0E-C24F-4063-8D7C-8C43E6BC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7239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52C8C0-29DF-4614-A4E9-97AE0870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86350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Interpretation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5A0965-72AE-412B-8DFC-4448D6E6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81650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Wie verändert sich die Leistung ohne Zeichnungen, Layout und Screenshots?</a:t>
            </a:r>
          </a:p>
        </p:txBody>
      </p:sp>
    </p:spTree>
    <p:extLst>
      <p:ext uri="{BB962C8B-B14F-4D97-AF65-F5344CB8AC3E}">
        <p14:creationId xmlns:p14="http://schemas.microsoft.com/office/powerpoint/2010/main" val="1234364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E2837-902B-4448-9C8B-B901C1E2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Fehleranalyse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767A2-7F9E-4A56-BE0A-D480ACD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Wichtigste Fehlerbilder und Grenzen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9C8FA-A86B-4FA6-B2CB-4C5A14D1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FE479-17A1-4CC0-B6CC-D0F43C92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7A1BA-B696-419F-BC7F-7A47E0D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E8690-0491-4B96-BBE9-603569B7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9ED42-33B6-460A-8ACB-8347DCD6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269DE-C231-4CF1-ACD1-4D8EBA7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B4416-F398-4956-A5F2-D9F2728D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C7BE6-2585-48F9-98E9-2890D2A1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EB67F-0404-4022-8E3E-2D537B34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C5952-6631-4584-9EFA-F9AE17FC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371CA-2F4D-4ECE-A734-C26204B5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AF835-1202-43F1-BB0B-51EB90D1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Repräsentativer Lauf der finalen Konfiguration. Die vollständige 7×7-Konfusionsmatrix bleibt im Anhang.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256A5-5A0C-440C-8156-97D8D47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23966-180D-4941-BB7D-DC3097EE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219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51B3C-F237-4DEA-95BE-2654B67B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Fehlerbild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1E06F-BBED-4A53-9995-492E3410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289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Klassenverwechslung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Ursache</a:t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Tatsächliches Fehlerpaar aus der Auswertung eintragen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Maßnahme</a:t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Trennregel im Codebook und Prompt präzisieren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A6572-538A-410C-9897-CB9079BF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6018B-4BB1-431E-9C7D-F2F2BB17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219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1D033-CDB9-4440-AF04-2E9CA710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Fehlerbild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46EAB-F30C-4305-8D21-0C872329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289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Unvollständige Unterlagen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Ursache</a:t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Entscheidende technische Information fehlt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Maßnahme</a:t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Aussagekräftige Unterlagen gezielt ergänzen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5064E-F8EE-4FFB-8E1E-F7D1A9FF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219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FC1CF-977C-4A57-9FF1-BC4C0912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219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B95A8-DFF1-4FD0-B6BA-1B05ED9A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Fehlerbild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7843B-A832-4B20-9CAF-4B72CAD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289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Mehrdeutiger Grenzfall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Ursache</a:t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Mehrere Klassen sind nach Codebook zulässig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Maßnahme</a:t>
            </a:r>
          </a:p>
          <a:p xmlns:a="http://schemas.openxmlformats.org/drawingml/2006/main">
            <a:pPr>
              <a:def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M-Fall dokumentieren und Labelmenge anwenden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D87017-063E-4590-AEAB-771FF436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Die Hauptfolie zeigt nur entscheidungsrelevante Fehlerbilder. Klassenweise Detailmetriken stehen als Backup bereit.</a:t>
            </a:r>
          </a:p>
        </p:txBody>
      </p:sp>
    </p:spTree>
    <p:extLst>
      <p:ext uri="{BB962C8B-B14F-4D97-AF65-F5344CB8AC3E}">
        <p14:creationId xmlns:p14="http://schemas.microsoft.com/office/powerpoint/2010/main" val="654614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FD36D9-6C91-40A4-9D38-A29066FE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Masterarbeit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7593C-8D2C-42A9-ACAA-C6AC5640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Zusammenfassung und nächste Schritte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2C992-2158-4EF8-8590-4E8D3FA7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66A55-F99A-4597-AAD8-19D01A48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422"/>
          </a:solidFill>
          <a:ln xmlns:a="http://schemas.openxmlformats.org/drawingml/2006/main" w="0">
            <a:solidFill>
              <a:srgbClr val="D7442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9C351-7590-4166-876F-2E4E27BD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A20"/>
          </a:solidFill>
          <a:ln xmlns:a="http://schemas.openxmlformats.org/drawingml/2006/main" w="0">
            <a:solidFill>
              <a:srgbClr val="E9AA2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FC426-1A36-478B-8700-B4B81F0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F34"/>
          </a:solidFill>
          <a:ln xmlns:a="http://schemas.openxmlformats.org/drawingml/2006/main" w="0">
            <a:solidFill>
              <a:srgbClr val="6D9F3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5A23D-A35F-4824-A2B2-17D7D6ED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80A8"/>
          </a:solidFill>
          <a:ln xmlns:a="http://schemas.openxmlformats.org/drawingml/2006/main" w="0">
            <a:solidFill>
              <a:srgbClr val="0880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F43B0-CCBE-4F77-97B2-9DB14F9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D8A"/>
          </a:solidFill>
          <a:ln xmlns:a="http://schemas.openxmlformats.org/drawingml/2006/main" w="0">
            <a:solidFill>
              <a:srgbClr val="354D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4D6C4-5F7C-418A-8F13-4E93F7AD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F68"/>
          </a:solidFill>
          <a:ln xmlns:a="http://schemas.openxmlformats.org/drawingml/2006/main" w="0">
            <a:solidFill>
              <a:srgbClr val="512F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BB230-9684-49EE-824C-54F00EB4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6008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E6374-13B3-4CBE-B357-7B52BA81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55C4F-38AE-422B-A25E-F163B517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defRPr>
            </a:pPr>
            <a:r>
              <a:rPr sz="675" b="0">
                <a:solidFill>
                  <a:srgbClr val="5E6872"/>
                </a:solidFill>
                <a:latin typeface="DejaVu Sans"/>
                <a:ea typeface="DejaVu Sans"/>
                <a:cs typeface="DejaVu Sans"/>
              </a:rPr>
              <a:t>Intern C-SC1 | BMG | Bosch Manufacturing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769B8-A568-4871-9649-44B37DEC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103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50032"/>
                </a:solidFill>
                <a:latin typeface="DejaVu Sans"/>
                <a:ea typeface="DejaVu Sans"/>
                <a:cs typeface="DejaVu Sans"/>
              </a:rPr>
              <a:t>BOSCH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1FB75-9D09-4025-BA55-AB5384A2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6A320-D3C0-4C21-A4D8-7199A4E5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E7E"/>
          </a:solidFill>
          <a:ln xmlns:a="http://schemas.openxmlformats.org/drawingml/2006/main" w="0">
            <a:solidFill>
              <a:srgbClr val="003E7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8FBB8-EDF4-4954-B299-923B624E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Ground Truth &amp; Bewertung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5147F-F466-4250-A0A4-B1FB453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05025"/>
            <a:ext cx="28575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Codebook für 7 Klassen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Workshop mit 16 Teilnehmenden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E1, E2 und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Strict Primary-Label Accuracy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Allowed-Label-Set Accuracy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7F52B-F9D7-4176-96E6-A7DA2675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71825"/>
            <a:ext cx="6858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8A1AD-321F-4B19-BD58-48938B20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71625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C69C3-D900-44E0-9EDE-F06F0022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7162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9B4"/>
          </a:solidFill>
          <a:ln xmlns:a="http://schemas.openxmlformats.org/drawingml/2006/main" w="0">
            <a:solidFill>
              <a:srgbClr val="0069B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A7976-F911-4EA9-8D16-2C270E04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097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LLM-Experimente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B7FCF-806E-4EEB-8A3F-7C8ABB3C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05025"/>
            <a:ext cx="28575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Prompt P1 bis 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PDF-Modellvergleich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10 Wiederholungen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PDF vs. Bild</a:t>
            </a:r>
          </a:p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PDF vs.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FBB40-A15F-4CA0-ACC0-445EB0A9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6858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003E7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8150F-B54F-4B92-A513-90C186A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71625"/>
            <a:ext cx="2400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3E7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29E21-4126-429A-84FE-1337FC18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71625"/>
            <a:ext cx="2400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1C"/>
          </a:solidFill>
          <a:ln xmlns:a="http://schemas.openxmlformats.org/drawingml/2006/main" w="0">
            <a:solidFill>
              <a:srgbClr val="5F8F1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582C-2781-4F30-A9EA-40867454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9725"/>
            <a:ext cx="2209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Nächste Schritte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69FD8-8981-4932-8458-77F26356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05025"/>
            <a:ext cx="21145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Batch-Ergebnisse eintragen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Beste Konfiguration festlegen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Weitere Baugruppen validieren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Review für Grenzfälle definieren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91413-24C5-4A5E-9535-FBE40365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4357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3E7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003E7E"/>
                </a:solidFill>
                <a:latin typeface="DejaVu Sans"/>
                <a:ea typeface="DejaVu Sans"/>
                <a:cs typeface="DejaVu Sans"/>
              </a:rPr>
              <a:t>Ziel: eine nachvollziehbar bewertete Konfiguration für die Funktionsklassifikation von Baugruppen.</a:t>
            </a:r>
          </a:p>
        </p:txBody>
      </p:sp>
    </p:spTree>
    <p:extLst>
      <p:ext uri="{BB962C8B-B14F-4D97-AF65-F5344CB8AC3E}">
        <p14:creationId xmlns:p14="http://schemas.microsoft.com/office/powerpoint/2010/main" val="479689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2026-09-27T23:10:37.3140000Z</dcterms:created>
  <dcterms:modified xsi:type="dcterms:W3CDTF">2026-09-27T23:10:37.3140000Z</dcterms:modified>
</coreProperties>
</file>