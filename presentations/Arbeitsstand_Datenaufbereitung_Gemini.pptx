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1276f086424762" /><Relationship Type="http://schemas.openxmlformats.org/officeDocument/2006/relationships/extended-properties" Target="/docProps/app.xml" Id="R89ecd4389e914d6d" /><Relationship Type="http://schemas.openxmlformats.org/officeDocument/2006/relationships/officeDocument" Target="/ppt/presentation.xml" Id="Rcfca3796f5c245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c68a2ab4864849"/>
  </p:sldMasterIdLst>
  <p:notesMasterIdLst>
    <p:notesMasterId xmlns:r="http://schemas.openxmlformats.org/officeDocument/2006/relationships" r:id="R8afe8047785143ef"/>
  </p:notesMasterIdLst>
  <p:sldIdLst>
    <p:sldId xmlns:r="http://schemas.openxmlformats.org/officeDocument/2006/relationships" id="256" r:id="R7848794df8824dd0"/>
    <p:sldId xmlns:r="http://schemas.openxmlformats.org/officeDocument/2006/relationships" id="257" r:id="R058e03bb80664cf7"/>
    <p:sldId xmlns:r="http://schemas.openxmlformats.org/officeDocument/2006/relationships" id="258" r:id="R2323cd4d9b7c415d"/>
    <p:sldId xmlns:r="http://schemas.openxmlformats.org/officeDocument/2006/relationships" id="259" r:id="Raf10e218895c4af9"/>
    <p:sldId xmlns:r="http://schemas.openxmlformats.org/officeDocument/2006/relationships" id="260" r:id="Rcea9aa2a5aba425c"/>
    <p:sldId xmlns:r="http://schemas.openxmlformats.org/officeDocument/2006/relationships" id="261" r:id="R124398d07c3b48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da01931bfc4d61" /><Relationship Type="http://schemas.openxmlformats.org/officeDocument/2006/relationships/slideMaster" Target="/ppt/slideMasters/slideMaster1.xml" Id="R7fc68a2ab4864849" /><Relationship Type="http://schemas.openxmlformats.org/officeDocument/2006/relationships/notesMaster" Target="/ppt/notesMasters/notesMaster1.xml" Id="R8afe8047785143ef" /><Relationship Type="http://schemas.openxmlformats.org/officeDocument/2006/relationships/presProps" Target="/ppt/presProps.xml" Id="R8ec9c008f0ac404f" /><Relationship Type="http://schemas.openxmlformats.org/officeDocument/2006/relationships/tableStyles" Target="/ppt/tableStyles.xml" Id="Re408793d7c26492a" /><Relationship Type="http://schemas.openxmlformats.org/officeDocument/2006/relationships/slide" Target="/ppt/slides/slide1.xml" Id="R7848794df8824dd0" /><Relationship Type="http://schemas.openxmlformats.org/officeDocument/2006/relationships/slide" Target="/ppt/slides/slide2.xml" Id="R058e03bb80664cf7" /><Relationship Type="http://schemas.openxmlformats.org/officeDocument/2006/relationships/slide" Target="/ppt/slides/slide3.xml" Id="R2323cd4d9b7c415d" /><Relationship Type="http://schemas.openxmlformats.org/officeDocument/2006/relationships/slide" Target="/ppt/slides/slide4.xml" Id="Raf10e218895c4af9" /><Relationship Type="http://schemas.openxmlformats.org/officeDocument/2006/relationships/slide" Target="/ppt/slides/slide5.xml" Id="Rcea9aa2a5aba425c" /><Relationship Type="http://schemas.openxmlformats.org/officeDocument/2006/relationships/slide" Target="/ppt/slides/slide6.xml" Id="R124398d07c3b48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8e2087c66e44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7bb38cf6ae4cac" /><Relationship Type="http://schemas.openxmlformats.org/officeDocument/2006/relationships/notesMaster" Target="/ppt/notesMasters/notesMaster1.xml" Id="R4b6884d43c324f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2393ef99184538" /><Relationship Type="http://schemas.openxmlformats.org/officeDocument/2006/relationships/notesMaster" Target="/ppt/notesMasters/notesMaster1.xml" Id="Rc81c33efb3174a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901b8bedca4343" /><Relationship Type="http://schemas.openxmlformats.org/officeDocument/2006/relationships/notesMaster" Target="/ppt/notesMasters/notesMaster1.xml" Id="Rd32f4d3cc4784e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8be321deef4f87" /><Relationship Type="http://schemas.openxmlformats.org/officeDocument/2006/relationships/notesMaster" Target="/ppt/notesMasters/notesMaster1.xml" Id="R24f8dfd36c1e4a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0b730aaaac4cc9" /><Relationship Type="http://schemas.openxmlformats.org/officeDocument/2006/relationships/notesMaster" Target="/ppt/notesMasters/notesMaster1.xml" Id="R3238a6c264e243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329fa0fd6f4800" /><Relationship Type="http://schemas.openxmlformats.org/officeDocument/2006/relationships/notesMaster" Target="/ppt/notesMasters/notesMaster1.xml" Id="R7fca217f478046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1b7a5bf834e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d84ee00315433e" /><Relationship Type="http://schemas.openxmlformats.org/officeDocument/2006/relationships/slideLayout" Target="/ppt/slideLayouts/slideLayout1.xml" Id="Rd47b1d3c687c49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7b1d3c687c49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edc72fd554c21" /><Relationship Type="http://schemas.openxmlformats.org/officeDocument/2006/relationships/notesSlide" Target="/ppt/notesSlides/notesSlide1.xml" Id="R8733a5ece7db49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a97459c7f4a56" /><Relationship Type="http://schemas.openxmlformats.org/officeDocument/2006/relationships/notesSlide" Target="/ppt/notesSlides/notesSlide2.xml" Id="R49c58454ee1342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f3e30282649d6" /><Relationship Type="http://schemas.openxmlformats.org/officeDocument/2006/relationships/notesSlide" Target="/ppt/notesSlides/notesSlide3.xml" Id="R08a63cb1ce2a4d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413a9cbea45e5" /><Relationship Type="http://schemas.openxmlformats.org/officeDocument/2006/relationships/notesSlide" Target="/ppt/notesSlides/notesSlide4.xml" Id="Rf09ae3f12f1747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b8c6d1fc74ed6" /><Relationship Type="http://schemas.openxmlformats.org/officeDocument/2006/relationships/notesSlide" Target="/ppt/notesSlides/notesSlide5.xml" Id="Rca1b327c768147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ee370028e4a33" /><Relationship Type="http://schemas.openxmlformats.org/officeDocument/2006/relationships/notesSlide" Target="/ppt/notesSlides/notesSlide6.xml" Id="R8e8a3c7b758c4b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3455B22-16F0-4153-9509-A7FD7911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146ABC4D-786C-4B02-A74D-0FA8D14F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66875"/>
            <a:ext cx="876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Datenaufbereitung und</a:t>
            </a:r>
          </a:p>
          <a:p xmlns:a="http://schemas.openxmlformats.org/drawingml/2006/main">
            <a:pPr algn="l">
              <a:defRPr sz="4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erster Gemini-Pilotversuch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0F1CB11D-1C4C-4D61-BD16-8CF13387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Aktueller Arbeitsstand</a:t>
            </a:r>
          </a:p>
        </p:txBody>
      </p:sp>
    </p:spTree>
    <p:extLst>
      <p:ext uri="{BB962C8B-B14F-4D97-AF65-F5344CB8AC3E}">
        <p14:creationId xmlns:p14="http://schemas.microsoft.com/office/powerpoint/2010/main" val="3470935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Die HBG-Liste bildet die gemeinsame Ausgangsbasis">
            <a:extLst xmlns:a="http://schemas.openxmlformats.org/drawingml/2006/main">
              <a:ext uri="{FF2B5EF4-FFF2-40B4-BE49-F238E27FC236}">
                <a16:creationId xmlns:a16="http://schemas.microsoft.com/office/drawing/2014/main" id="{A89F8732-4A0E-4BD7-8D5B-6C3BF21E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Die HBG-Liste bildet die gemeinsame Ausgangsbasis</a:t>
            </a:r>
          </a:p>
        </p:txBody>
      </p:sp>
      <p:sp>
        <p:nvSpPr>
          <p:cNvPr id="2" name="title-rule-Die HBG-Liste bildet die gemeinsame Ausgangsbasis">
            <a:extLst xmlns:a="http://schemas.openxmlformats.org/drawingml/2006/main">
              <a:ext uri="{FF2B5EF4-FFF2-40B4-BE49-F238E27FC236}">
                <a16:creationId xmlns:a16="http://schemas.microsoft.com/office/drawing/2014/main" id="{EB8407A7-F74A-4C34-8657-E07E4B9F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3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AF0E1332-B6AF-4047-97FA-0E3F793E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574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4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43EFAD52-489B-4600-AD09-B963F8F7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79F8846-DBAD-4B49-835F-04119D9C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574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6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4F9B0083-E31E-4B1A-9AA0-8A013AC8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574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7" name="flow-node-0">
            <a:extLst xmlns:a="http://schemas.openxmlformats.org/drawingml/2006/main">
              <a:ext uri="{FF2B5EF4-FFF2-40B4-BE49-F238E27FC236}">
                <a16:creationId xmlns:a16="http://schemas.microsoft.com/office/drawing/2014/main" id="{EC341153-A78C-4F9F-AB80-4D122AE2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18859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8" name="flow-node-title-0">
            <a:extLst xmlns:a="http://schemas.openxmlformats.org/drawingml/2006/main">
              <a:ext uri="{FF2B5EF4-FFF2-40B4-BE49-F238E27FC236}">
                <a16:creationId xmlns:a16="http://schemas.microsoft.com/office/drawing/2014/main" id="{F04BF55A-B5D9-4A07-8C92-45B870E4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„Datensatz Overview“</a:t>
            </a:r>
          </a:p>
        </p:txBody>
      </p:sp>
      <p:sp>
        <p:nvSpPr>
          <p:cNvPr id="9" name="flow-node-sub-0">
            <a:extLst xmlns:a="http://schemas.openxmlformats.org/drawingml/2006/main">
              <a:ext uri="{FF2B5EF4-FFF2-40B4-BE49-F238E27FC236}">
                <a16:creationId xmlns:a16="http://schemas.microsoft.com/office/drawing/2014/main" id="{9ECA217B-4B5D-4EBC-8579-53BCC9A2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7 Sheets</a:t>
            </a:r>
          </a:p>
        </p:txBody>
      </p:sp>
      <p:sp>
        <p:nvSpPr>
          <p:cNvPr id="10" name="flow-node-1">
            <a:extLst xmlns:a="http://schemas.openxmlformats.org/drawingml/2006/main">
              <a:ext uri="{FF2B5EF4-FFF2-40B4-BE49-F238E27FC236}">
                <a16:creationId xmlns:a16="http://schemas.microsoft.com/office/drawing/2014/main" id="{71239A5E-2855-482B-A311-0E55D63D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18859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1" name="flow-node-title-1">
            <a:extLst xmlns:a="http://schemas.openxmlformats.org/drawingml/2006/main">
              <a:ext uri="{FF2B5EF4-FFF2-40B4-BE49-F238E27FC236}">
                <a16:creationId xmlns:a16="http://schemas.microsoft.com/office/drawing/2014/main" id="{B4F89CD9-A8D5-481B-8847-77612C51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Alle HBG</a:t>
            </a:r>
          </a:p>
        </p:txBody>
      </p:sp>
      <p:sp>
        <p:nvSpPr>
          <p:cNvPr id="12" name="flow-node-sub-1">
            <a:extLst xmlns:a="http://schemas.openxmlformats.org/drawingml/2006/main">
              <a:ext uri="{FF2B5EF4-FFF2-40B4-BE49-F238E27FC236}">
                <a16:creationId xmlns:a16="http://schemas.microsoft.com/office/drawing/2014/main" id="{0E9B46C3-7174-4F44-95E5-01E23969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956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zusammenführen</a:t>
            </a:r>
          </a:p>
        </p:txBody>
      </p:sp>
      <p:sp>
        <p:nvSpPr>
          <p:cNvPr id="13" name="flow-node-2">
            <a:extLst xmlns:a="http://schemas.openxmlformats.org/drawingml/2006/main">
              <a:ext uri="{FF2B5EF4-FFF2-40B4-BE49-F238E27FC236}">
                <a16:creationId xmlns:a16="http://schemas.microsoft.com/office/drawing/2014/main" id="{BC71B433-CCE8-4DA1-B788-2CB06C58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8859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4" name="flow-node-title-2">
            <a:extLst xmlns:a="http://schemas.openxmlformats.org/drawingml/2006/main">
              <a:ext uri="{FF2B5EF4-FFF2-40B4-BE49-F238E27FC236}">
                <a16:creationId xmlns:a16="http://schemas.microsoft.com/office/drawing/2014/main" id="{B63B4F8B-2B77-4FD1-AE23-0A798BB0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3362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Reihenfolge</a:t>
            </a:r>
          </a:p>
        </p:txBody>
      </p:sp>
      <p:sp>
        <p:nvSpPr>
          <p:cNvPr id="15" name="flow-node-sub-2">
            <a:extLst xmlns:a="http://schemas.openxmlformats.org/drawingml/2006/main">
              <a:ext uri="{FF2B5EF4-FFF2-40B4-BE49-F238E27FC236}">
                <a16:creationId xmlns:a16="http://schemas.microsoft.com/office/drawing/2014/main" id="{325CC7E7-6F71-4E42-A4BC-1F4C5E86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956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randomisieren</a:t>
            </a:r>
          </a:p>
        </p:txBody>
      </p:sp>
      <p:sp>
        <p:nvSpPr>
          <p:cNvPr id="16" name="flow-node-3">
            <a:extLst xmlns:a="http://schemas.openxmlformats.org/drawingml/2006/main">
              <a:ext uri="{FF2B5EF4-FFF2-40B4-BE49-F238E27FC236}">
                <a16:creationId xmlns:a16="http://schemas.microsoft.com/office/drawing/2014/main" id="{8D20BA58-8FAF-46BA-9A82-E25431BC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18859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7" name="flow-node-title-3">
            <a:extLst xmlns:a="http://schemas.openxmlformats.org/drawingml/2006/main">
              <a:ext uri="{FF2B5EF4-FFF2-40B4-BE49-F238E27FC236}">
                <a16:creationId xmlns:a16="http://schemas.microsoft.com/office/drawing/2014/main" id="{27F0E333-84D6-4A95-AF26-A6308A30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3362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Labels</a:t>
            </a:r>
          </a:p>
        </p:txBody>
      </p:sp>
      <p:sp>
        <p:nvSpPr>
          <p:cNvPr id="18" name="flow-node-sub-3">
            <a:extLst xmlns:a="http://schemas.openxmlformats.org/drawingml/2006/main">
              <a:ext uri="{FF2B5EF4-FFF2-40B4-BE49-F238E27FC236}">
                <a16:creationId xmlns:a16="http://schemas.microsoft.com/office/drawing/2014/main" id="{785E0700-0583-4CF7-917E-1228A9E6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956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entfernen</a:t>
            </a:r>
          </a:p>
        </p:txBody>
      </p:sp>
      <p:sp>
        <p:nvSpPr>
          <p:cNvPr id="19" name="flow-node-4">
            <a:extLst xmlns:a="http://schemas.openxmlformats.org/drawingml/2006/main">
              <a:ext uri="{FF2B5EF4-FFF2-40B4-BE49-F238E27FC236}">
                <a16:creationId xmlns:a16="http://schemas.microsoft.com/office/drawing/2014/main" id="{2567D867-72EA-4931-A84F-114708E6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95500"/>
            <a:ext cx="18859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</p:sp>
      <p:sp>
        <p:nvSpPr>
          <p:cNvPr id="20" name="flow-node-title-4">
            <a:extLst xmlns:a="http://schemas.openxmlformats.org/drawingml/2006/main">
              <a:ext uri="{FF2B5EF4-FFF2-40B4-BE49-F238E27FC236}">
                <a16:creationId xmlns:a16="http://schemas.microsoft.com/office/drawing/2014/main" id="{77CD4AC9-162B-4B00-96E2-ED238828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657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all_HBG_random_</a:t>
            </a:r>
          </a:p>
          <a:p xmlns:a="http://schemas.openxmlformats.org/drawingml/2006/main">
            <a:pPr algn="ctr">
              <a:defRPr sz="14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no_label.xlsx</a:t>
            </a:r>
          </a:p>
        </p:txBody>
      </p:sp>
      <p:sp>
        <p:nvSpPr>
          <p:cNvPr id="21" name="result-band">
            <a:extLst xmlns:a="http://schemas.openxmlformats.org/drawingml/2006/main">
              <a:ext uri="{FF2B5EF4-FFF2-40B4-BE49-F238E27FC236}">
                <a16:creationId xmlns:a16="http://schemas.microsoft.com/office/drawing/2014/main" id="{0AA6CDBD-3991-40BE-8738-16A20A54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8953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3F8FB"/>
          </a:solidFill>
          <a:ln xmlns:a="http://schemas.openxmlformats.org/drawingml/2006/main" w="9525">
            <a:solidFill>
              <a:srgbClr val="EAF3F8"/>
            </a:solidFill>
            <a:prstDash val="solid"/>
          </a:ln>
        </p:spPr>
      </p:sp>
      <p:sp>
        <p:nvSpPr>
          <p:cNvPr id="22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B4AE65DC-FAAB-4914-873D-6D6581A6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101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Ergebnis</a:t>
            </a:r>
          </a:p>
        </p:txBody>
      </p:sp>
      <p:sp>
        <p:nvSpPr>
          <p:cNvPr id="23" name="result-copy">
            <a:extLst xmlns:a="http://schemas.openxmlformats.org/drawingml/2006/main">
              <a:ext uri="{FF2B5EF4-FFF2-40B4-BE49-F238E27FC236}">
                <a16:creationId xmlns:a16="http://schemas.microsoft.com/office/drawing/2014/main" id="{D1C67242-CF1E-4CB4-8DBA-B6C2A0B7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6250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Eingangsliste für die weitere Datenverarbeitung und die Gemini-Experimente</a:t>
            </a:r>
          </a:p>
        </p:txBody>
      </p:sp>
    </p:spTree>
    <p:extLst>
      <p:ext uri="{BB962C8B-B14F-4D97-AF65-F5344CB8AC3E}">
        <p14:creationId xmlns:p14="http://schemas.microsoft.com/office/powerpoint/2010/main" val="12158603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Die Projektstruktur trennt Input, Verarbeitung und Output">
            <a:extLst xmlns:a="http://schemas.openxmlformats.org/drawingml/2006/main">
              <a:ext uri="{FF2B5EF4-FFF2-40B4-BE49-F238E27FC236}">
                <a16:creationId xmlns:a16="http://schemas.microsoft.com/office/drawing/2014/main" id="{DC41C8F4-0ED2-4A19-9C2D-567DDDD3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Die Projektstruktur trennt Input, Verarbeitung und Output</a:t>
            </a:r>
          </a:p>
        </p:txBody>
      </p:sp>
      <p:sp>
        <p:nvSpPr>
          <p:cNvPr id="2" name="title-rule-Die Projektstruktur trennt Input, Verarbeitung und Output">
            <a:extLst xmlns:a="http://schemas.openxmlformats.org/drawingml/2006/main">
              <a:ext uri="{FF2B5EF4-FFF2-40B4-BE49-F238E27FC236}">
                <a16:creationId xmlns:a16="http://schemas.microsoft.com/office/drawing/2014/main" id="{C5EA0190-0E9F-4006-8EAC-0C5A0322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3" name="tree-background">
            <a:extLst xmlns:a="http://schemas.openxmlformats.org/drawingml/2006/main">
              <a:ext uri="{FF2B5EF4-FFF2-40B4-BE49-F238E27FC236}">
                <a16:creationId xmlns:a16="http://schemas.microsoft.com/office/drawing/2014/main" id="{7B29F894-72D2-42DD-A562-34B3915C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7000875" cy="4905375"/>
          </a:xfrm>
          <a:prstGeom xmlns:a="http://schemas.openxmlformats.org/drawingml/2006/main" prst="roundRect">
            <a:avLst>
              <a:gd name="adj" fmla="val 116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project-tree">
            <a:extLst xmlns:a="http://schemas.openxmlformats.org/drawingml/2006/main">
              <a:ext uri="{FF2B5EF4-FFF2-40B4-BE49-F238E27FC236}">
                <a16:creationId xmlns:a16="http://schemas.microsoft.com/office/drawing/2014/main" id="{45B90B86-012B-488A-B5CA-B49EE163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6572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Assembly_data_preprocessing/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├── input/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├── all_HBG_random_no_label.xlsx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└── raw_data/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    ├── Datensatz – Gantry Achssysteme/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    └── ... weitere Kategorien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├── output/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├── processed_HBG/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└── reports/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    ├── collect_HBG/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    └── generate_HBG_file_inventory/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└── scripts/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   ├── collect_HBG.py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   └── generate_HBG_file_inventory.py</a:t>
            </a:r>
          </a:p>
        </p:txBody>
      </p:sp>
      <p:sp>
        <p:nvSpPr>
          <p:cNvPr id="5" name="right-guide">
            <a:extLst xmlns:a="http://schemas.openxmlformats.org/drawingml/2006/main">
              <a:ext uri="{FF2B5EF4-FFF2-40B4-BE49-F238E27FC236}">
                <a16:creationId xmlns:a16="http://schemas.microsoft.com/office/drawing/2014/main" id="{A0616BA2-C2CD-487E-9BA2-8BB848A8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47625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6" name="side-title-0">
            <a:extLst xmlns:a="http://schemas.openxmlformats.org/drawingml/2006/main">
              <a:ext uri="{FF2B5EF4-FFF2-40B4-BE49-F238E27FC236}">
                <a16:creationId xmlns:a16="http://schemas.microsoft.com/office/drawing/2014/main" id="{77E1A3D7-9D7E-4EF8-AF64-1A616DD0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43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7" name="side-copy-0">
            <a:extLst xmlns:a="http://schemas.openxmlformats.org/drawingml/2006/main">
              <a:ext uri="{FF2B5EF4-FFF2-40B4-BE49-F238E27FC236}">
                <a16:creationId xmlns:a16="http://schemas.microsoft.com/office/drawing/2014/main" id="{37C16E8B-D163-4C11-BB3C-3CB54D68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621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HBG-Liste und</a:t>
            </a:r>
          </a:p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ursprüngliche Datensätze</a:t>
            </a:r>
          </a:p>
        </p:txBody>
      </p:sp>
      <p:sp>
        <p:nvSpPr>
          <p:cNvPr id="8" name="side-title-1">
            <a:extLst xmlns:a="http://schemas.openxmlformats.org/drawingml/2006/main">
              <a:ext uri="{FF2B5EF4-FFF2-40B4-BE49-F238E27FC236}">
                <a16:creationId xmlns:a16="http://schemas.microsoft.com/office/drawing/2014/main" id="{37FA7F3A-DBBA-453D-BC5E-D7EF6DA3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71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Scripts</a:t>
            </a:r>
          </a:p>
        </p:txBody>
      </p:sp>
      <p:sp>
        <p:nvSpPr>
          <p:cNvPr id="9" name="side-copy-1">
            <a:extLst xmlns:a="http://schemas.openxmlformats.org/drawingml/2006/main">
              <a:ext uri="{FF2B5EF4-FFF2-40B4-BE49-F238E27FC236}">
                <a16:creationId xmlns:a16="http://schemas.microsoft.com/office/drawing/2014/main" id="{5D904B01-D3D3-4A6A-9909-9D226DCE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909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Ordner sammeln und</a:t>
            </a:r>
          </a:p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Dateien kategorisieren</a:t>
            </a:r>
          </a:p>
        </p:txBody>
      </p:sp>
      <p:sp>
        <p:nvSpPr>
          <p:cNvPr id="10" name="side-title-2">
            <a:extLst xmlns:a="http://schemas.openxmlformats.org/drawingml/2006/main">
              <a:ext uri="{FF2B5EF4-FFF2-40B4-BE49-F238E27FC236}">
                <a16:creationId xmlns:a16="http://schemas.microsoft.com/office/drawing/2014/main" id="{76514FAE-55C1-4DE8-8E88-0078F32D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00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side-copy-2">
            <a:extLst xmlns:a="http://schemas.openxmlformats.org/drawingml/2006/main">
              <a:ext uri="{FF2B5EF4-FFF2-40B4-BE49-F238E27FC236}">
                <a16:creationId xmlns:a16="http://schemas.microsoft.com/office/drawing/2014/main" id="{5E60E07C-AA1E-4C09-BAF9-9386D0BC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Aufbereitete HBG-Daten</a:t>
            </a:r>
          </a:p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und Reports</a:t>
            </a:r>
          </a:p>
        </p:txBody>
      </p:sp>
    </p:spTree>
    <p:extLst>
      <p:ext uri="{BB962C8B-B14F-4D97-AF65-F5344CB8AC3E}">
        <p14:creationId xmlns:p14="http://schemas.microsoft.com/office/powerpoint/2010/main" val="1854779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Das Preprocessing umfasst zwei Schritte">
            <a:extLst xmlns:a="http://schemas.openxmlformats.org/drawingml/2006/main">
              <a:ext uri="{FF2B5EF4-FFF2-40B4-BE49-F238E27FC236}">
                <a16:creationId xmlns:a16="http://schemas.microsoft.com/office/drawing/2014/main" id="{BA8B9892-1B92-4C30-8C3B-0D3932FD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Das Preprocessing umfasst zwei Schritte</a:t>
            </a:r>
          </a:p>
        </p:txBody>
      </p:sp>
      <p:sp>
        <p:nvSpPr>
          <p:cNvPr id="2" name="title-rule-Das Preprocessing umfasst zwei Schritte">
            <a:extLst xmlns:a="http://schemas.openxmlformats.org/drawingml/2006/main">
              <a:ext uri="{FF2B5EF4-FFF2-40B4-BE49-F238E27FC236}">
                <a16:creationId xmlns:a16="http://schemas.microsoft.com/office/drawing/2014/main" id="{5464F47D-9E60-4C00-85AF-0ABC8F8F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3" name="number-1-60-145">
            <a:extLst xmlns:a="http://schemas.openxmlformats.org/drawingml/2006/main">
              <a:ext uri="{FF2B5EF4-FFF2-40B4-BE49-F238E27FC236}">
                <a16:creationId xmlns:a16="http://schemas.microsoft.com/office/drawing/2014/main" id="{8C311808-9F58-4E11-8BF9-9144C384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72116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step1-title">
            <a:extLst xmlns:a="http://schemas.openxmlformats.org/drawingml/2006/main">
              <a:ext uri="{FF2B5EF4-FFF2-40B4-BE49-F238E27FC236}">
                <a16:creationId xmlns:a16="http://schemas.microsoft.com/office/drawing/2014/main" id="{0150810E-713A-4A62-ABEB-4C17B1C9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811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HBG-Ordner sammeln</a:t>
            </a:r>
          </a:p>
        </p:txBody>
      </p:sp>
      <p:sp>
        <p:nvSpPr>
          <p:cNvPr id="5" name="step1-script">
            <a:extLst xmlns:a="http://schemas.openxmlformats.org/drawingml/2006/main">
              <a:ext uri="{FF2B5EF4-FFF2-40B4-BE49-F238E27FC236}">
                <a16:creationId xmlns:a16="http://schemas.microsoft.com/office/drawing/2014/main" id="{BB2D2A19-EF5A-4796-A802-48B93AB0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240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collect_HBG.py</a:t>
            </a:r>
          </a:p>
        </p:txBody>
      </p:sp>
      <p:sp>
        <p:nvSpPr>
          <p:cNvPr id="6" name="step1-arrow-0">
            <a:extLst xmlns:a="http://schemas.openxmlformats.org/drawingml/2006/main">
              <a:ext uri="{FF2B5EF4-FFF2-40B4-BE49-F238E27FC236}">
                <a16:creationId xmlns:a16="http://schemas.microsoft.com/office/drawing/2014/main" id="{DDF293F3-1C27-4846-BC4A-8E485C44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527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7" name="step1-arrow-1">
            <a:extLst xmlns:a="http://schemas.openxmlformats.org/drawingml/2006/main">
              <a:ext uri="{FF2B5EF4-FFF2-40B4-BE49-F238E27FC236}">
                <a16:creationId xmlns:a16="http://schemas.microsoft.com/office/drawing/2014/main" id="{97D52C2B-9852-4B67-813B-10855393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527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8" name="step1-arrow-2">
            <a:extLst xmlns:a="http://schemas.openxmlformats.org/drawingml/2006/main">
              <a:ext uri="{FF2B5EF4-FFF2-40B4-BE49-F238E27FC236}">
                <a16:creationId xmlns:a16="http://schemas.microsoft.com/office/drawing/2014/main" id="{9D9C1B2B-B2B1-46E0-8A37-2B8BA63A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9" name="step1-node-0">
            <a:extLst xmlns:a="http://schemas.openxmlformats.org/drawingml/2006/main">
              <a:ext uri="{FF2B5EF4-FFF2-40B4-BE49-F238E27FC236}">
                <a16:creationId xmlns:a16="http://schemas.microsoft.com/office/drawing/2014/main" id="{5841B738-32B2-4FD7-93EF-2DA7F56D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143125" cy="9334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HBG-Liste</a:t>
            </a:r>
          </a:p>
          <a:p xmlns:a="http://schemas.openxmlformats.org/drawingml/2006/main">
            <a:pPr algn="ctr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einlesen</a:t>
            </a:r>
          </a:p>
        </p:txBody>
      </p:sp>
      <p:sp>
        <p:nvSpPr>
          <p:cNvPr id="10" name="step1-node-1">
            <a:extLst xmlns:a="http://schemas.openxmlformats.org/drawingml/2006/main">
              <a:ext uri="{FF2B5EF4-FFF2-40B4-BE49-F238E27FC236}">
                <a16:creationId xmlns:a16="http://schemas.microsoft.com/office/drawing/2014/main" id="{2D1C1562-7F98-498B-A8DE-128E822B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2143125" cy="9334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Zugehörigen</a:t>
            </a:r>
          </a:p>
          <a:p xmlns:a="http://schemas.openxmlformats.org/drawingml/2006/main">
            <a:pPr algn="ctr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Ordner suchen</a:t>
            </a:r>
          </a:p>
        </p:txBody>
      </p:sp>
      <p:sp>
        <p:nvSpPr>
          <p:cNvPr id="11" name="step1-node-2">
            <a:extLst xmlns:a="http://schemas.openxmlformats.org/drawingml/2006/main">
              <a:ext uri="{FF2B5EF4-FFF2-40B4-BE49-F238E27FC236}">
                <a16:creationId xmlns:a16="http://schemas.microsoft.com/office/drawing/2014/main" id="{5EA490A4-C861-4C2F-85F2-5149E3A3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143125" cy="9334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HBG-Ordner</a:t>
            </a:r>
          </a:p>
          <a:p xmlns:a="http://schemas.openxmlformats.org/drawingml/2006/main">
            <a:pPr algn="ctr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sammeln</a:t>
            </a:r>
          </a:p>
        </p:txBody>
      </p:sp>
      <p:sp>
        <p:nvSpPr>
          <p:cNvPr id="12" name="step1-node-3">
            <a:extLst xmlns:a="http://schemas.openxmlformats.org/drawingml/2006/main">
              <a:ext uri="{FF2B5EF4-FFF2-40B4-BE49-F238E27FC236}">
                <a16:creationId xmlns:a16="http://schemas.microsoft.com/office/drawing/2014/main" id="{1AE9C74A-D6CA-4F5C-865E-C88D45A3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143125" cy="9334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processed_HBG</a:t>
            </a:r>
          </a:p>
        </p:txBody>
      </p:sp>
      <p:sp>
        <p:nvSpPr>
          <p:cNvPr id="13" name="section-divider">
            <a:extLst xmlns:a="http://schemas.openxmlformats.org/drawingml/2006/main">
              <a:ext uri="{FF2B5EF4-FFF2-40B4-BE49-F238E27FC236}">
                <a16:creationId xmlns:a16="http://schemas.microsoft.com/office/drawing/2014/main" id="{67A2060D-F0F5-46EB-851F-001DEF72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4" name="number-2-60-396">
            <a:extLst xmlns:a="http://schemas.openxmlformats.org/drawingml/2006/main">
              <a:ext uri="{FF2B5EF4-FFF2-40B4-BE49-F238E27FC236}">
                <a16:creationId xmlns:a16="http://schemas.microsoft.com/office/drawing/2014/main" id="{1A9E35AC-EE10-4E50-AEDB-5F48AE7B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72116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step2-title">
            <a:extLst xmlns:a="http://schemas.openxmlformats.org/drawingml/2006/main">
              <a:ext uri="{FF2B5EF4-FFF2-40B4-BE49-F238E27FC236}">
                <a16:creationId xmlns:a16="http://schemas.microsoft.com/office/drawing/2014/main" id="{A1003A17-757E-4BBD-9C4B-B641E152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7190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Alle Dateien jedes HBG-Ordners kategorisieren</a:t>
            </a:r>
          </a:p>
        </p:txBody>
      </p:sp>
      <p:sp>
        <p:nvSpPr>
          <p:cNvPr id="16" name="step2-script">
            <a:extLst xmlns:a="http://schemas.openxmlformats.org/drawingml/2006/main">
              <a:ext uri="{FF2B5EF4-FFF2-40B4-BE49-F238E27FC236}">
                <a16:creationId xmlns:a16="http://schemas.microsoft.com/office/drawing/2014/main" id="{94CD85A4-CE0D-466E-B449-C9E4D842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generate_HBG_file_inventory.py</a:t>
            </a:r>
          </a:p>
        </p:txBody>
      </p:sp>
      <p:sp>
        <p:nvSpPr>
          <p:cNvPr id="17" name="cat-0">
            <a:extLst xmlns:a="http://schemas.openxmlformats.org/drawingml/2006/main">
              <a:ext uri="{FF2B5EF4-FFF2-40B4-BE49-F238E27FC236}">
                <a16:creationId xmlns:a16="http://schemas.microsoft.com/office/drawing/2014/main" id="{3D62069B-0D31-4C6A-8B2D-3C7BA1B5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2857500" cy="9906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</p:sp>
      <p:sp>
        <p:nvSpPr>
          <p:cNvPr id="18" name="cat-title-0">
            <a:extLst xmlns:a="http://schemas.openxmlformats.org/drawingml/2006/main">
              <a:ext uri="{FF2B5EF4-FFF2-40B4-BE49-F238E27FC236}">
                <a16:creationId xmlns:a16="http://schemas.microsoft.com/office/drawing/2014/main" id="{B65D010E-B866-4C07-898F-857B1FAC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387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Priorität 1</a:t>
            </a:r>
          </a:p>
        </p:txBody>
      </p:sp>
      <p:sp>
        <p:nvSpPr>
          <p:cNvPr id="19" name="cat-copy-0">
            <a:extLst xmlns:a="http://schemas.openxmlformats.org/drawingml/2006/main">
              <a:ext uri="{FF2B5EF4-FFF2-40B4-BE49-F238E27FC236}">
                <a16:creationId xmlns:a16="http://schemas.microsoft.com/office/drawing/2014/main" id="{FD35BE78-FC90-41D0-A6CE-A43A2E31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00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Primäre Gemini-Dateien</a:t>
            </a:r>
          </a:p>
        </p:txBody>
      </p:sp>
      <p:sp>
        <p:nvSpPr>
          <p:cNvPr id="20" name="cat-1">
            <a:extLst xmlns:a="http://schemas.openxmlformats.org/drawingml/2006/main">
              <a:ext uri="{FF2B5EF4-FFF2-40B4-BE49-F238E27FC236}">
                <a16:creationId xmlns:a16="http://schemas.microsoft.com/office/drawing/2014/main" id="{80DB877C-EEC1-4111-8C28-EF05211B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14875"/>
            <a:ext cx="2857500" cy="9906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21" name="cat-title-1">
            <a:extLst xmlns:a="http://schemas.openxmlformats.org/drawingml/2006/main">
              <a:ext uri="{FF2B5EF4-FFF2-40B4-BE49-F238E27FC236}">
                <a16:creationId xmlns:a16="http://schemas.microsoft.com/office/drawing/2014/main" id="{8C68631F-280C-4E47-910D-FBF6121D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8387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Priorität 2</a:t>
            </a:r>
          </a:p>
        </p:txBody>
      </p:sp>
      <p:sp>
        <p:nvSpPr>
          <p:cNvPr id="22" name="cat-copy-1">
            <a:extLst xmlns:a="http://schemas.openxmlformats.org/drawingml/2006/main">
              <a:ext uri="{FF2B5EF4-FFF2-40B4-BE49-F238E27FC236}">
                <a16:creationId xmlns:a16="http://schemas.microsoft.com/office/drawing/2014/main" id="{96B47916-73DC-4EBC-B98B-E7614E56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00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Ergänzende Dateien</a:t>
            </a:r>
          </a:p>
        </p:txBody>
      </p:sp>
      <p:sp>
        <p:nvSpPr>
          <p:cNvPr id="23" name="cat-2">
            <a:extLst xmlns:a="http://schemas.openxmlformats.org/drawingml/2006/main">
              <a:ext uri="{FF2B5EF4-FFF2-40B4-BE49-F238E27FC236}">
                <a16:creationId xmlns:a16="http://schemas.microsoft.com/office/drawing/2014/main" id="{FCD55FF5-618F-4BC0-9A57-D19E02A8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2857500" cy="9906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24" name="cat-title-2">
            <a:extLst xmlns:a="http://schemas.openxmlformats.org/drawingml/2006/main">
              <a:ext uri="{FF2B5EF4-FFF2-40B4-BE49-F238E27FC236}">
                <a16:creationId xmlns:a16="http://schemas.microsoft.com/office/drawing/2014/main" id="{AC2C58CC-DF18-483D-A63C-EB251BB7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387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Nein</a:t>
            </a:r>
          </a:p>
        </p:txBody>
      </p:sp>
      <p:sp>
        <p:nvSpPr>
          <p:cNvPr id="25" name="cat-copy-2">
            <a:extLst xmlns:a="http://schemas.openxmlformats.org/drawingml/2006/main">
              <a:ext uri="{FF2B5EF4-FFF2-40B4-BE49-F238E27FC236}">
                <a16:creationId xmlns:a16="http://schemas.microsoft.com/office/drawing/2014/main" id="{36ED590D-153A-40C6-900C-3489FA69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00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Nicht verwendete Dateien</a:t>
            </a:r>
          </a:p>
        </p:txBody>
      </p:sp>
      <p:sp>
        <p:nvSpPr>
          <p:cNvPr id="26" name="inventory-arrow">
            <a:extLst xmlns:a="http://schemas.openxmlformats.org/drawingml/2006/main">
              <a:ext uri="{FF2B5EF4-FFF2-40B4-BE49-F238E27FC236}">
                <a16:creationId xmlns:a16="http://schemas.microsoft.com/office/drawing/2014/main" id="{53EE2409-C21C-4C56-8161-863915C5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7682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27" name="inventory-box">
            <a:extLst xmlns:a="http://schemas.openxmlformats.org/drawingml/2006/main">
              <a:ext uri="{FF2B5EF4-FFF2-40B4-BE49-F238E27FC236}">
                <a16:creationId xmlns:a16="http://schemas.microsoft.com/office/drawing/2014/main" id="{A056E565-8F6A-456D-9256-1257F1A7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33925"/>
            <a:ext cx="1000125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3F8FB"/>
          </a:solidFill>
          <a:ln xmlns:a="http://schemas.openxmlformats.org/drawingml/2006/main" w="14288">
            <a:solidFill>
              <a:srgbClr val="0070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File</a:t>
            </a:r>
          </a:p>
          <a:p xmlns:a="http://schemas.openxmlformats.org/drawingml/2006/main">
            <a:pPr algn="ctr">
              <a:defRPr sz="13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Inventory</a:t>
            </a:r>
          </a:p>
        </p:txBody>
      </p:sp>
      <p:sp>
        <p:nvSpPr>
          <p:cNvPr id="28" name="inventory-caption">
            <a:extLst xmlns:a="http://schemas.openxmlformats.org/drawingml/2006/main">
              <a:ext uri="{FF2B5EF4-FFF2-40B4-BE49-F238E27FC236}">
                <a16:creationId xmlns:a16="http://schemas.microsoft.com/office/drawing/2014/main" id="{3C7DEB8E-532B-4F51-A964-62662C0C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817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Dokumentation und Steuerung des Gemini-Inputs</a:t>
            </a:r>
          </a:p>
        </p:txBody>
      </p:sp>
    </p:spTree>
    <p:extLst>
      <p:ext uri="{BB962C8B-B14F-4D97-AF65-F5344CB8AC3E}">
        <p14:creationId xmlns:p14="http://schemas.microsoft.com/office/powerpoint/2010/main" val="1592261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Gemini erhält Benennung und gezielt ausgewählte Dateien">
            <a:extLst xmlns:a="http://schemas.openxmlformats.org/drawingml/2006/main">
              <a:ext uri="{FF2B5EF4-FFF2-40B4-BE49-F238E27FC236}">
                <a16:creationId xmlns:a16="http://schemas.microsoft.com/office/drawing/2014/main" id="{03908EEB-A8DF-42DE-9951-1F1C04B8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Gemini erhält Benennung und gezielt ausgewählte Dateien</a:t>
            </a:r>
          </a:p>
        </p:txBody>
      </p:sp>
      <p:sp>
        <p:nvSpPr>
          <p:cNvPr id="2" name="title-rule-Gemini erhält Benennung und gezielt ausgewählte Dateien">
            <a:extLst xmlns:a="http://schemas.openxmlformats.org/drawingml/2006/main">
              <a:ext uri="{FF2B5EF4-FFF2-40B4-BE49-F238E27FC236}">
                <a16:creationId xmlns:a16="http://schemas.microsoft.com/office/drawing/2014/main" id="{B86AB6E4-1819-4F98-AAB3-0BFE3157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3" name="input-num-0">
            <a:extLst xmlns:a="http://schemas.openxmlformats.org/drawingml/2006/main">
              <a:ext uri="{FF2B5EF4-FFF2-40B4-BE49-F238E27FC236}">
                <a16:creationId xmlns:a16="http://schemas.microsoft.com/office/drawing/2014/main" id="{137E827C-112E-4659-BA97-BDB15F08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input-title-0">
            <a:extLst xmlns:a="http://schemas.openxmlformats.org/drawingml/2006/main">
              <a:ext uri="{FF2B5EF4-FFF2-40B4-BE49-F238E27FC236}">
                <a16:creationId xmlns:a16="http://schemas.microsoft.com/office/drawing/2014/main" id="{545C7214-890A-42A3-B8A7-004AE7BD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Baugruppenbezeichnung</a:t>
            </a:r>
          </a:p>
        </p:txBody>
      </p:sp>
      <p:sp>
        <p:nvSpPr>
          <p:cNvPr id="5" name="input-line-0">
            <a:extLst xmlns:a="http://schemas.openxmlformats.org/drawingml/2006/main">
              <a:ext uri="{FF2B5EF4-FFF2-40B4-BE49-F238E27FC236}">
                <a16:creationId xmlns:a16="http://schemas.microsoft.com/office/drawing/2014/main" id="{296D62DB-4700-4A77-B390-244AA581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00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6" name="input-copy-0">
            <a:extLst xmlns:a="http://schemas.openxmlformats.org/drawingml/2006/main">
              <a:ext uri="{FF2B5EF4-FFF2-40B4-BE49-F238E27FC236}">
                <a16:creationId xmlns:a16="http://schemas.microsoft.com/office/drawing/2014/main" id="{078F8161-5327-4DA9-AA54-8AF77264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aus all_HBG_random_</a:t>
            </a:r>
          </a:p>
          <a:p xmlns:a="http://schemas.openxmlformats.org/drawingml/2006/main">
            <a:pPr algn="l"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no_label.xlsx</a:t>
            </a:r>
          </a:p>
        </p:txBody>
      </p:sp>
      <p:sp>
        <p:nvSpPr>
          <p:cNvPr id="7" name="input-down-0">
            <a:extLst xmlns:a="http://schemas.openxmlformats.org/drawingml/2006/main">
              <a:ext uri="{FF2B5EF4-FFF2-40B4-BE49-F238E27FC236}">
                <a16:creationId xmlns:a16="http://schemas.microsoft.com/office/drawing/2014/main" id="{BAF71E90-F77F-4E5C-BC3A-40071C71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14750"/>
            <a:ext cx="3238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8" name="input-num-1">
            <a:extLst xmlns:a="http://schemas.openxmlformats.org/drawingml/2006/main">
              <a:ext uri="{FF2B5EF4-FFF2-40B4-BE49-F238E27FC236}">
                <a16:creationId xmlns:a16="http://schemas.microsoft.com/office/drawing/2014/main" id="{F85C44D7-5D75-4F7E-A394-7B61327F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71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input-title-1">
            <a:extLst xmlns:a="http://schemas.openxmlformats.org/drawingml/2006/main">
              <a:ext uri="{FF2B5EF4-FFF2-40B4-BE49-F238E27FC236}">
                <a16:creationId xmlns:a16="http://schemas.microsoft.com/office/drawing/2014/main" id="{0CB17A33-0CC5-4C35-A73D-9B53810C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HBG-Dateien</a:t>
            </a:r>
          </a:p>
        </p:txBody>
      </p:sp>
      <p:sp>
        <p:nvSpPr>
          <p:cNvPr id="10" name="input-line-1">
            <a:extLst xmlns:a="http://schemas.openxmlformats.org/drawingml/2006/main">
              <a:ext uri="{FF2B5EF4-FFF2-40B4-BE49-F238E27FC236}">
                <a16:creationId xmlns:a16="http://schemas.microsoft.com/office/drawing/2014/main" id="{6B62F75A-3063-46E3-914C-5CFA7BCF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47950"/>
            <a:ext cx="300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11" name="input-copy-1">
            <a:extLst xmlns:a="http://schemas.openxmlformats.org/drawingml/2006/main">
              <a:ext uri="{FF2B5EF4-FFF2-40B4-BE49-F238E27FC236}">
                <a16:creationId xmlns:a16="http://schemas.microsoft.com/office/drawing/2014/main" id="{AA069FCF-91F5-44C3-827F-52DC3936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57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aus processed_HBG</a:t>
            </a:r>
          </a:p>
        </p:txBody>
      </p:sp>
      <p:sp>
        <p:nvSpPr>
          <p:cNvPr id="12" name="input-down-1">
            <a:extLst xmlns:a="http://schemas.openxmlformats.org/drawingml/2006/main">
              <a:ext uri="{FF2B5EF4-FFF2-40B4-BE49-F238E27FC236}">
                <a16:creationId xmlns:a16="http://schemas.microsoft.com/office/drawing/2014/main" id="{3115259A-4BC9-4F96-BC96-FD16F2C9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3238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13" name="input-num-2">
            <a:extLst xmlns:a="http://schemas.openxmlformats.org/drawingml/2006/main">
              <a:ext uri="{FF2B5EF4-FFF2-40B4-BE49-F238E27FC236}">
                <a16:creationId xmlns:a16="http://schemas.microsoft.com/office/drawing/2014/main" id="{8C9FF029-1CD2-49EF-8907-9253347C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input-title-2">
            <a:extLst xmlns:a="http://schemas.openxmlformats.org/drawingml/2006/main">
              <a:ext uri="{FF2B5EF4-FFF2-40B4-BE49-F238E27FC236}">
                <a16:creationId xmlns:a16="http://schemas.microsoft.com/office/drawing/2014/main" id="{41C37F0C-8FB3-4A15-98EF-DED3BF3B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Dateiauswahl</a:t>
            </a:r>
          </a:p>
        </p:txBody>
      </p:sp>
      <p:sp>
        <p:nvSpPr>
          <p:cNvPr id="15" name="input-line-2">
            <a:extLst xmlns:a="http://schemas.openxmlformats.org/drawingml/2006/main">
              <a:ext uri="{FF2B5EF4-FFF2-40B4-BE49-F238E27FC236}">
                <a16:creationId xmlns:a16="http://schemas.microsoft.com/office/drawing/2014/main" id="{BD4742A8-D8E2-4C3B-83E3-E87C5866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300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16" name="input-copy-2">
            <a:extLst xmlns:a="http://schemas.openxmlformats.org/drawingml/2006/main">
              <a:ext uri="{FF2B5EF4-FFF2-40B4-BE49-F238E27FC236}">
                <a16:creationId xmlns:a16="http://schemas.microsoft.com/office/drawing/2014/main" id="{D0E1F074-166C-4E06-B872-CC21DDD9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Priorität 1 / Priorität 2</a:t>
            </a:r>
          </a:p>
          <a:p xmlns:a="http://schemas.openxmlformats.org/drawingml/2006/main">
            <a:pPr algn="l"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gemäß File Inventory</a:t>
            </a:r>
          </a:p>
        </p:txBody>
      </p:sp>
      <p:sp>
        <p:nvSpPr>
          <p:cNvPr id="17" name="input-down-2">
            <a:extLst xmlns:a="http://schemas.openxmlformats.org/drawingml/2006/main">
              <a:ext uri="{FF2B5EF4-FFF2-40B4-BE49-F238E27FC236}">
                <a16:creationId xmlns:a16="http://schemas.microsoft.com/office/drawing/2014/main" id="{8F7B42A8-C089-499C-9D2B-379FD115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14750"/>
            <a:ext cx="3238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18" name="gemini-input">
            <a:extLst xmlns:a="http://schemas.openxmlformats.org/drawingml/2006/main">
              <a:ext uri="{FF2B5EF4-FFF2-40B4-BE49-F238E27FC236}">
                <a16:creationId xmlns:a16="http://schemas.microsoft.com/office/drawing/2014/main" id="{1B136EB5-8D9C-4BE6-89CA-20A41C63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86250"/>
            <a:ext cx="9429750" cy="762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3F8FB"/>
          </a:solidFill>
          <a:ln xmlns:a="http://schemas.openxmlformats.org/drawingml/2006/main" w="9525">
            <a:solidFill>
              <a:srgbClr val="EAF3F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Benennung  +  ausgewählte Dateien</a:t>
            </a:r>
          </a:p>
        </p:txBody>
      </p:sp>
      <p:sp>
        <p:nvSpPr>
          <p:cNvPr id="19" name="gemini-arrow-1">
            <a:extLst xmlns:a="http://schemas.openxmlformats.org/drawingml/2006/main">
              <a:ext uri="{FF2B5EF4-FFF2-40B4-BE49-F238E27FC236}">
                <a16:creationId xmlns:a16="http://schemas.microsoft.com/office/drawing/2014/main" id="{4E822BF0-6C34-4998-B165-83B2ED48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8162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20" name="gemini-box">
            <a:extLst xmlns:a="http://schemas.openxmlformats.org/drawingml/2006/main">
              <a:ext uri="{FF2B5EF4-FFF2-40B4-BE49-F238E27FC236}">
                <a16:creationId xmlns:a16="http://schemas.microsoft.com/office/drawing/2014/main" id="{B3224287-CD97-440A-8E07-484B0A72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91125"/>
            <a:ext cx="1714500" cy="619125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21" name="gemini-arrow-2">
            <a:extLst xmlns:a="http://schemas.openxmlformats.org/drawingml/2006/main">
              <a:ext uri="{FF2B5EF4-FFF2-40B4-BE49-F238E27FC236}">
                <a16:creationId xmlns:a16="http://schemas.microsoft.com/office/drawing/2014/main" id="{9D949AB2-6760-40C8-8310-5487161E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8162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22" name="class-box">
            <a:extLst xmlns:a="http://schemas.openxmlformats.org/drawingml/2006/main">
              <a:ext uri="{FF2B5EF4-FFF2-40B4-BE49-F238E27FC236}">
                <a16:creationId xmlns:a16="http://schemas.microsoft.com/office/drawing/2014/main" id="{E014D150-E14F-45B0-98BA-6C22542D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91125"/>
            <a:ext cx="2667000" cy="619125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Funktionsklasse</a:t>
            </a:r>
          </a:p>
        </p:txBody>
      </p:sp>
    </p:spTree>
    <p:extLst>
      <p:ext uri="{BB962C8B-B14F-4D97-AF65-F5344CB8AC3E}">
        <p14:creationId xmlns:p14="http://schemas.microsoft.com/office/powerpoint/2010/main" val="3433682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Der erste Pilotversuch zeigt kaum Unterschiede">
            <a:extLst xmlns:a="http://schemas.openxmlformats.org/drawingml/2006/main">
              <a:ext uri="{FF2B5EF4-FFF2-40B4-BE49-F238E27FC236}">
                <a16:creationId xmlns:a16="http://schemas.microsoft.com/office/drawing/2014/main" id="{83714E85-0002-4339-81B2-720C7E16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Der erste Pilotversuch zeigt kaum Unterschiede</a:t>
            </a:r>
          </a:p>
        </p:txBody>
      </p:sp>
      <p:sp>
        <p:nvSpPr>
          <p:cNvPr id="2" name="title-rule-Der erste Pilotversuch zeigt kaum Unterschiede">
            <a:extLst xmlns:a="http://schemas.openxmlformats.org/drawingml/2006/main">
              <a:ext uri="{FF2B5EF4-FFF2-40B4-BE49-F238E27FC236}">
                <a16:creationId xmlns:a16="http://schemas.microsoft.com/office/drawing/2014/main" id="{4FD921D9-4453-4D6D-AFB1-78F037B3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3" name="sample-size">
            <a:extLst xmlns:a="http://schemas.openxmlformats.org/drawingml/2006/main">
              <a:ext uri="{FF2B5EF4-FFF2-40B4-BE49-F238E27FC236}">
                <a16:creationId xmlns:a16="http://schemas.microsoft.com/office/drawing/2014/main" id="{533325E4-5B96-475A-8FE7-01754D1A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20 Baugruppen</a:t>
            </a:r>
          </a:p>
        </p:txBody>
      </p:sp>
      <p:sp>
        <p:nvSpPr>
          <p:cNvPr id="4" name="exp-divider">
            <a:extLst xmlns:a="http://schemas.openxmlformats.org/drawingml/2006/main">
              <a:ext uri="{FF2B5EF4-FFF2-40B4-BE49-F238E27FC236}">
                <a16:creationId xmlns:a16="http://schemas.microsoft.com/office/drawing/2014/main" id="{85F746D0-EFDB-4835-A470-BF4B6CB0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exp1-title">
            <a:extLst xmlns:a="http://schemas.openxmlformats.org/drawingml/2006/main">
              <a:ext uri="{FF2B5EF4-FFF2-40B4-BE49-F238E27FC236}">
                <a16:creationId xmlns:a16="http://schemas.microsoft.com/office/drawing/2014/main" id="{7AB4C41A-723C-41EA-99FB-C69F031C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Experiment 1</a:t>
            </a:r>
          </a:p>
        </p:txBody>
      </p:sp>
      <p:sp>
        <p:nvSpPr>
          <p:cNvPr id="6" name="exp2-title">
            <a:extLst xmlns:a="http://schemas.openxmlformats.org/drawingml/2006/main">
              <a:ext uri="{FF2B5EF4-FFF2-40B4-BE49-F238E27FC236}">
                <a16:creationId xmlns:a16="http://schemas.microsoft.com/office/drawing/2014/main" id="{CEBA4189-B7C3-413B-9292-7846F916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763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Experiment 2</a:t>
            </a:r>
          </a:p>
        </p:txBody>
      </p:sp>
      <p:sp>
        <p:nvSpPr>
          <p:cNvPr id="7" name="exp1-input">
            <a:extLst xmlns:a="http://schemas.openxmlformats.org/drawingml/2006/main">
              <a:ext uri="{FF2B5EF4-FFF2-40B4-BE49-F238E27FC236}">
                <a16:creationId xmlns:a16="http://schemas.microsoft.com/office/drawing/2014/main" id="{E3BBE7B3-6D64-4658-918F-2A8FE06C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3429000" cy="142875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Benennung</a:t>
            </a:r>
          </a:p>
          <a:p xmlns:a="http://schemas.openxmlformats.org/drawingml/2006/main"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+</a:t>
            </a:r>
          </a:p>
          <a:p xmlns:a="http://schemas.openxmlformats.org/drawingml/2006/main"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Priorität 1</a:t>
            </a:r>
          </a:p>
        </p:txBody>
      </p:sp>
      <p:sp>
        <p:nvSpPr>
          <p:cNvPr id="8" name="exp2-input">
            <a:extLst xmlns:a="http://schemas.openxmlformats.org/drawingml/2006/main">
              <a:ext uri="{FF2B5EF4-FFF2-40B4-BE49-F238E27FC236}">
                <a16:creationId xmlns:a16="http://schemas.microsoft.com/office/drawing/2014/main" id="{6710C1F7-2B6F-4DE0-84A0-8B720A7F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3429000" cy="142875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Benennung</a:t>
            </a:r>
          </a:p>
          <a:p xmlns:a="http://schemas.openxmlformats.org/drawingml/2006/main"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+</a:t>
            </a:r>
          </a:p>
          <a:p xmlns:a="http://schemas.openxmlformats.org/drawingml/2006/main"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Priorität 1 + Priorität 2</a:t>
            </a:r>
          </a:p>
        </p:txBody>
      </p:sp>
      <p:sp>
        <p:nvSpPr>
          <p:cNvPr id="9" name="main-result">
            <a:extLst xmlns:a="http://schemas.openxmlformats.org/drawingml/2006/main">
              <a:ext uri="{FF2B5EF4-FFF2-40B4-BE49-F238E27FC236}">
                <a16:creationId xmlns:a16="http://schemas.microsoft.com/office/drawing/2014/main" id="{E563B107-C2E1-4DD0-8239-59D5C1B7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Klassifikationsergebnisse fast identisch</a:t>
            </a:r>
          </a:p>
        </p:txBody>
      </p:sp>
      <p:sp>
        <p:nvSpPr>
          <p:cNvPr id="10" name="result-detail">
            <a:extLst xmlns:a="http://schemas.openxmlformats.org/drawingml/2006/main">
              <a:ext uri="{FF2B5EF4-FFF2-40B4-BE49-F238E27FC236}">
                <a16:creationId xmlns:a16="http://schemas.microsoft.com/office/drawing/2014/main" id="{8FACA354-53EA-464D-BADF-994F117E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Zusätzliche Priorität-2-Dateien änderten die Ergebnisse kaum.</a:t>
            </a:r>
          </a:p>
        </p:txBody>
      </p:sp>
      <p:sp>
        <p:nvSpPr>
          <p:cNvPr id="11" name="pilot-note">
            <a:extLst xmlns:a="http://schemas.openxmlformats.org/drawingml/2006/main">
              <a:ext uri="{FF2B5EF4-FFF2-40B4-BE49-F238E27FC236}">
                <a16:creationId xmlns:a16="http://schemas.microsoft.com/office/drawing/2014/main" id="{665A1B0D-E175-4EF8-80F2-B76DBACF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959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Einordnung: kleiner Pilotversuch mit 20 Baugruppen</a:t>
            </a:r>
          </a:p>
        </p:txBody>
      </p:sp>
      <p:sp>
        <p:nvSpPr>
          <p:cNvPr id="12" name="next-step">
            <a:extLst xmlns:a="http://schemas.openxmlformats.org/drawingml/2006/main">
              <a:ext uri="{FF2B5EF4-FFF2-40B4-BE49-F238E27FC236}">
                <a16:creationId xmlns:a16="http://schemas.microsoft.com/office/drawing/2014/main" id="{608B55B6-AEA7-4D2D-BD3B-6DFBD13B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05500"/>
            <a:ext cx="9429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8FB"/>
          </a:solidFill>
          <a:ln xmlns:a="http://schemas.openxmlformats.org/drawingml/2006/main" w="9525">
            <a:solidFill>
              <a:srgbClr val="EAF3F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Nächster Schritt: Vergleich mit Referenzlabels und Bewertung der Genauigkeit</a:t>
            </a:r>
          </a:p>
        </p:txBody>
      </p:sp>
    </p:spTree>
    <p:extLst>
      <p:ext uri="{BB962C8B-B14F-4D97-AF65-F5344CB8AC3E}">
        <p14:creationId xmlns:p14="http://schemas.microsoft.com/office/powerpoint/2010/main" val="192785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2026-07-16T07:15:40.2900000Z</dcterms:created>
  <dcterms:modified xsi:type="dcterms:W3CDTF">2026-07-16T07:15:40.2900000Z</dcterms:modified>
</coreProperties>
</file>