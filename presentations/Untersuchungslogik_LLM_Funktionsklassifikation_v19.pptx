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C9CC3A0-8117-432C-AA86-8597F8FF68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Die bestehende Folie vergleicht vier Modelle und vier Prompt-Konfigurationen unter PDF-Eingabe. Die Prompt-Logik und die Ergebnisse bleiben bewusst zusammen. Die detaillierten Randbedingungen sind auf der vorherigen Workshop- und der folgenden Ergebnisfolie eingeordnet.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Die bestehende Stabilitätsfolie bleibt unverändert: Sie zeigt die Ergebnisstreuung der finalen Konfiguration über zehn Wiederholungen.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02920"/>
            <a:ext cx="10972080" cy="68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3364920"/>
            <a:ext cx="109720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20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400" cy="189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1162080"/>
            <a:ext cx="51429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7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Masterarbeit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85800" y="1695600"/>
            <a:ext cx="800028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360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LLM-gestützte Funktionsklassifikation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von Baugruppen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23960" y="3124080"/>
            <a:ext cx="32378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Zwischenpräsentation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4095720"/>
            <a:ext cx="3285360" cy="13802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4095720"/>
            <a:ext cx="328536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81200" y="4133880"/>
            <a:ext cx="3094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Ziel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28720" y="4629240"/>
            <a:ext cx="29995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Sieben Funktionsklassen aus technischen Baugruppenunterlagen automatisch bestimmen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314960" y="4514760"/>
            <a:ext cx="789840" cy="42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410080" y="4095720"/>
            <a:ext cx="3285360" cy="13802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410080" y="4095720"/>
            <a:ext cx="328536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505480" y="4133880"/>
            <a:ext cx="30949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Methode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553000" y="4629240"/>
            <a:ext cx="29995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LLM-Experimente mit PDF-, Bild- und Texteingaben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039240" y="4514760"/>
            <a:ext cx="789840" cy="42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9810720" y="4095720"/>
            <a:ext cx="1713960" cy="13802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810720" y="4095720"/>
            <a:ext cx="171396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906120" y="4133880"/>
            <a:ext cx="1523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953640" y="4629240"/>
            <a:ext cx="14281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Codebook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Metriken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23960" y="5896080"/>
            <a:ext cx="57142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Bosch Manufacturing Solutions × Universität Stuttgart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Übersicht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Projektzeitachse und Vorgehen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000080" y="2333520"/>
            <a:ext cx="10000440" cy="39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114560" y="2209680"/>
            <a:ext cx="208800" cy="208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05040" y="1809720"/>
            <a:ext cx="808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Jun 26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62120" y="4000680"/>
            <a:ext cx="1618560" cy="58968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838080" y="4076640"/>
            <a:ext cx="1466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Projektstart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419640" y="2209680"/>
            <a:ext cx="208800" cy="208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209760" y="1809720"/>
            <a:ext cx="808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Jul–Aug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067200" y="3143160"/>
            <a:ext cx="1618560" cy="58968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143160" y="3219480"/>
            <a:ext cx="1466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Datengrundlage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und Codebook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724360" y="2209680"/>
            <a:ext cx="208800" cy="208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514840" y="1809720"/>
            <a:ext cx="808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Aug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372280" y="4000680"/>
            <a:ext cx="1618560" cy="58968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448240" y="4076640"/>
            <a:ext cx="1466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und 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8029440" y="2209680"/>
            <a:ext cx="208800" cy="208800"/>
          </a:xfrm>
          <a:prstGeom prst="ellipse">
            <a:avLst/>
          </a:prstGeom>
          <a:solidFill>
            <a:srgbClr val="A7C92D"/>
          </a:solidFill>
          <a:ln w="14288">
            <a:solidFill>
              <a:srgbClr val="5F8F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819920" y="1809720"/>
            <a:ext cx="808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Sep–Okt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677000" y="3143160"/>
            <a:ext cx="1618560" cy="589680"/>
          </a:xfrm>
          <a:prstGeom prst="rect">
            <a:avLst/>
          </a:prstGeom>
          <a:solidFill>
            <a:srgbClr val="5F8F1C"/>
          </a:solidFill>
          <a:ln w="0">
            <a:solidFill>
              <a:srgbClr val="5F8F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753320" y="3219480"/>
            <a:ext cx="1466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LLM-Tests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334520" y="2209680"/>
            <a:ext cx="208800" cy="208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125000" y="1809720"/>
            <a:ext cx="808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Nov–Dez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982080" y="4000680"/>
            <a:ext cx="1618560" cy="58968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0058400" y="4076640"/>
            <a:ext cx="1466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und Thesis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7905600" y="1352520"/>
            <a:ext cx="37440" cy="3857040"/>
          </a:xfrm>
          <a:prstGeom prst="rect">
            <a:avLst/>
          </a:prstGeom>
          <a:solidFill>
            <a:srgbClr val="5F8F1C"/>
          </a:solidFill>
          <a:ln w="0">
            <a:solidFill>
              <a:srgbClr val="5F8F1C"/>
            </a:solidFill>
          </a:ln>
        </p:spPr>
        <p:style>
          <a:lnRef idx="0"/>
          <a:fillRef idx="0"/>
          <a:effectRef idx="0"/>
          <a:fontRef idx="minor"/>
        </p:style>
        <p:txBody>
          <a:bodyPr lIns="18720" tIns="45000" rIns="187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058240" y="1380960"/>
            <a:ext cx="13802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5F8F1C"/>
                </a:solidFill>
                <a:effectLst/>
                <a:uFillTx/>
                <a:latin typeface="DejaVu Sans"/>
                <a:ea typeface="DejaVu Sans"/>
              </a:rPr>
              <a:t>aktueller Stand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619280" y="5667480"/>
            <a:ext cx="8762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Von der nachvollziehbaren Ground Truth zur Auswahl einer robusten LLM-Konfiguration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85800" y="6610320"/>
            <a:ext cx="1428480" cy="360"/>
          </a:xfrm>
          <a:prstGeom prst="line">
            <a:avLst/>
          </a:prstGeom>
          <a:ln w="38100">
            <a:solidFill>
              <a:srgbClr val="8A0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114280" y="6610320"/>
            <a:ext cx="1428840" cy="360"/>
          </a:xfrm>
          <a:prstGeom prst="line">
            <a:avLst/>
          </a:prstGeom>
          <a:ln w="38100">
            <a:solidFill>
              <a:srgbClr val="D739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543120" y="6610320"/>
            <a:ext cx="1428840" cy="360"/>
          </a:xfrm>
          <a:prstGeom prst="line">
            <a:avLst/>
          </a:prstGeom>
          <a:ln w="38100">
            <a:solidFill>
              <a:srgbClr val="E6A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971960" y="6610320"/>
            <a:ext cx="1428840" cy="360"/>
          </a:xfrm>
          <a:prstGeom prst="line">
            <a:avLst/>
          </a:prstGeom>
          <a:ln w="38100">
            <a:solidFill>
              <a:srgbClr val="5B8F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400800" y="6610320"/>
            <a:ext cx="1428480" cy="360"/>
          </a:xfrm>
          <a:prstGeom prst="line">
            <a:avLst/>
          </a:prstGeom>
          <a:ln w="38100">
            <a:solidFill>
              <a:srgbClr val="0081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829280" y="6610320"/>
            <a:ext cx="1428840" cy="360"/>
          </a:xfrm>
          <a:prstGeom prst="line">
            <a:avLst/>
          </a:prstGeom>
          <a:ln w="38100">
            <a:solidFill>
              <a:srgbClr val="354C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9258120" y="6610320"/>
            <a:ext cx="1428840" cy="360"/>
          </a:xfrm>
          <a:prstGeom prst="line">
            <a:avLst/>
          </a:prstGeom>
          <a:ln w="38100">
            <a:solidFill>
              <a:srgbClr val="5127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0686960" y="6610320"/>
            <a:ext cx="1428840" cy="360"/>
          </a:xfrm>
          <a:prstGeom prst="line">
            <a:avLst/>
          </a:prstGeom>
          <a:ln w="38100">
            <a:solidFill>
              <a:srgbClr val="3B7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85800" y="6334200"/>
            <a:ext cx="227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200240" y="6334200"/>
            <a:ext cx="24757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5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1115720" y="6257880"/>
            <a:ext cx="8564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r">
              <a:lnSpc>
                <a:spcPct val="100000"/>
              </a:lnSpc>
            </a:pPr>
            <a:r>
              <a:rPr lang="en-US" sz="1500" b="1" u="none" strike="noStrike">
                <a:solidFill>
                  <a:srgbClr val="E2002B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04880" y="399960"/>
            <a:ext cx="93337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202020"/>
                </a:solidFill>
                <a:effectLst/>
                <a:uFillTx/>
                <a:latin typeface="DejaVu Sans"/>
                <a:ea typeface="DejaVu Sans"/>
              </a:rPr>
              <a:t>Übersicht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04880" y="800280"/>
            <a:ext cx="10286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Untersuchungslogik der LLM-gestützten Funktionsklassifikation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04880" y="1305000"/>
            <a:ext cx="704160" cy="3744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476440" y="15523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4192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8288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1814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5910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9436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3532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7058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1150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4680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88772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04880" y="1952640"/>
            <a:ext cx="10800720" cy="627840"/>
          </a:xfrm>
          <a:prstGeom prst="roundRect">
            <a:avLst>
              <a:gd name="adj" fmla="val 12121"/>
            </a:avLst>
          </a:prstGeom>
          <a:solidFill>
            <a:srgbClr val="E8F3FA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71640" y="2095560"/>
            <a:ext cx="16185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Ziel der Arbeit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71640" y="2295360"/>
            <a:ext cx="780984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Automatisierte Funktionsklassifikation von Baugruppen mit LLMs untersuchen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04880" y="3143160"/>
            <a:ext cx="1809000" cy="13802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895320" y="3343320"/>
            <a:ext cx="275400" cy="275400"/>
          </a:xfrm>
          <a:prstGeom prst="ellipse">
            <a:avLst/>
          </a:prstGeom>
          <a:solidFill>
            <a:srgbClr val="E8F3FA"/>
          </a:solidFill>
          <a:ln w="0">
            <a:solidFill>
              <a:srgbClr val="E8F3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95320" y="3409920"/>
            <a:ext cx="27540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895320" y="3781440"/>
            <a:ext cx="1428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Testdatensatz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und Codebook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95320" y="4238640"/>
            <a:ext cx="142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 aufbauen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552760" y="3676680"/>
            <a:ext cx="28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1650" b="0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857680" y="3143160"/>
            <a:ext cx="1809000" cy="13802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048120" y="3343320"/>
            <a:ext cx="275400" cy="275400"/>
          </a:xfrm>
          <a:prstGeom prst="ellipse">
            <a:avLst/>
          </a:prstGeom>
          <a:solidFill>
            <a:srgbClr val="E8F3FA"/>
          </a:solidFill>
          <a:ln w="0">
            <a:solidFill>
              <a:srgbClr val="E8F3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048120" y="3409920"/>
            <a:ext cx="27540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048120" y="3781440"/>
            <a:ext cx="1428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Labeling-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048120" y="4238640"/>
            <a:ext cx="142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Referenzlabels prüfen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705200" y="3676680"/>
            <a:ext cx="28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1650" b="0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010120" y="3143160"/>
            <a:ext cx="1809000" cy="13802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200560" y="3343320"/>
            <a:ext cx="275400" cy="275400"/>
          </a:xfrm>
          <a:prstGeom prst="ellipse">
            <a:avLst/>
          </a:prstGeom>
          <a:solidFill>
            <a:srgbClr val="E8F3FA"/>
          </a:solidFill>
          <a:ln w="0">
            <a:solidFill>
              <a:srgbClr val="E8F3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200560" y="3409920"/>
            <a:ext cx="27540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200560" y="3781440"/>
            <a:ext cx="1428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Workshop-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200560" y="4238640"/>
            <a:ext cx="142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Regime ableiten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858000" y="3676680"/>
            <a:ext cx="28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1650" b="0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162920" y="3143160"/>
            <a:ext cx="1809000" cy="13802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353360" y="3343320"/>
            <a:ext cx="275400" cy="275400"/>
          </a:xfrm>
          <a:prstGeom prst="ellipse">
            <a:avLst/>
          </a:prstGeom>
          <a:solidFill>
            <a:srgbClr val="E8F3FA"/>
          </a:solidFill>
          <a:ln w="0">
            <a:solidFill>
              <a:srgbClr val="E8F3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353360" y="3409920"/>
            <a:ext cx="27540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7353360" y="3781440"/>
            <a:ext cx="1428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LLM-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Experimente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353360" y="4238640"/>
            <a:ext cx="142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Konfigurationen vergleichen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9010800" y="3676680"/>
            <a:ext cx="28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1650" b="0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9315360" y="3143160"/>
            <a:ext cx="1809000" cy="13802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9505800" y="3343320"/>
            <a:ext cx="275400" cy="275400"/>
          </a:xfrm>
          <a:prstGeom prst="ellipse">
            <a:avLst/>
          </a:prstGeom>
          <a:solidFill>
            <a:srgbClr val="E8F3FA"/>
          </a:solidFill>
          <a:ln w="0">
            <a:solidFill>
              <a:srgbClr val="E8F3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505800" y="3409920"/>
            <a:ext cx="27540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9505800" y="3781440"/>
            <a:ext cx="14281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Ergebnis-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bewertung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9505800" y="4238640"/>
            <a:ext cx="1428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Leistung einordnen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Vorgehen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LLM-gestützte Aufbereitung von Baugruppendaten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571680" y="1571760"/>
            <a:ext cx="2571120" cy="38570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71680" y="1571760"/>
            <a:ext cx="257112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66720" y="1609560"/>
            <a:ext cx="23806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Baugruppenunterlagen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714240" y="2104920"/>
            <a:ext cx="2285280" cy="32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PDFs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Technische Zeichnungen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BOM / Stücklisten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Screenshots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Extrahierter Text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333600" y="2971800"/>
            <a:ext cx="742320" cy="456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4286160" y="1571760"/>
            <a:ext cx="2856960" cy="38570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4286160" y="1571760"/>
            <a:ext cx="285696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381560" y="1609560"/>
            <a:ext cx="2666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Codebook &amp; Ground Truth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429080" y="2104920"/>
            <a:ext cx="2571120" cy="32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7 Funktionsklassen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Workshop mit 16 Teilnehmenden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Manuelle Prüfung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E1 / E2 / 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334280" y="2971800"/>
            <a:ext cx="742320" cy="456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286840" y="1571760"/>
            <a:ext cx="3332880" cy="16660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286840" y="1571760"/>
            <a:ext cx="333288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8381880" y="1609560"/>
            <a:ext cx="31424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8429760" y="2104920"/>
            <a:ext cx="3047400" cy="10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Modelle, Prompt-Varianten und Eingabeformen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8286840" y="3714840"/>
            <a:ext cx="3332880" cy="17139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8286840" y="3714840"/>
            <a:ext cx="333288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8381880" y="3753000"/>
            <a:ext cx="31424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8429760" y="4248000"/>
            <a:ext cx="304740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Strict Primary-Label Accuracy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Allowed-Label-Set Accuracy für 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Macro-F1 und Fehleranalyse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477200" y="3381480"/>
            <a:ext cx="44758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Vergleich mit der vorab dokumentierten Ground Truth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80880" y="1380960"/>
            <a:ext cx="11429280" cy="442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52600" y="1571760"/>
            <a:ext cx="2952000" cy="37141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52600" y="1571760"/>
            <a:ext cx="2952000" cy="418320"/>
          </a:xfrm>
          <a:prstGeom prst="rect">
            <a:avLst/>
          </a:prstGeom>
          <a:solidFill>
            <a:srgbClr val="003E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66720" y="1609560"/>
            <a:ext cx="2723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0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Baugruppendaten und Referenzgrundlage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23960" y="2095560"/>
            <a:ext cx="2618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Technische Unterlagen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"/>
          <p:cNvPicPr/>
          <p:nvPr/>
        </p:nvPicPr>
        <p:blipFill>
          <a:blip r:embed="rId1"/>
          <a:stretch/>
        </p:blipFill>
        <p:spPr>
          <a:xfrm>
            <a:off x="743040" y="2762280"/>
            <a:ext cx="2571120" cy="85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/>
          <p:nvPr/>
        </p:nvSpPr>
        <p:spPr>
          <a:xfrm>
            <a:off x="723960" y="4172040"/>
            <a:ext cx="2609280" cy="875520"/>
          </a:xfrm>
          <a:prstGeom prst="rect">
            <a:avLst/>
          </a:prstGeom>
          <a:solidFill>
            <a:srgbClr val="EEF3F6"/>
          </a:solidFill>
          <a:ln w="9525">
            <a:solidFill>
              <a:srgbClr val="88AF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838080" y="4257720"/>
            <a:ext cx="23806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Codebook und Ground Truth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838080" y="4524480"/>
            <a:ext cx="23806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01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Manuelle Definition der Funktionsklassen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1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und Referenzlabels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238640" y="1571760"/>
            <a:ext cx="3714120" cy="37141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238640" y="1571760"/>
            <a:ext cx="3714120" cy="418320"/>
          </a:xfrm>
          <a:prstGeom prst="rect">
            <a:avLst/>
          </a:prstGeom>
          <a:solidFill>
            <a:srgbClr val="003E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4352760" y="1609560"/>
            <a:ext cx="34855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LLM-gestützte Experimente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"/>
          <p:cNvPicPr/>
          <p:nvPr/>
        </p:nvPicPr>
        <p:blipFill>
          <a:blip r:embed="rId2"/>
          <a:stretch/>
        </p:blipFill>
        <p:spPr>
          <a:xfrm>
            <a:off x="5308560" y="2048040"/>
            <a:ext cx="1573920" cy="236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"/>
          <p:cNvSpPr/>
          <p:nvPr/>
        </p:nvSpPr>
        <p:spPr>
          <a:xfrm>
            <a:off x="4476600" y="4495680"/>
            <a:ext cx="32378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Funktionsklassifikation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4476600" y="4743360"/>
            <a:ext cx="3237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Metadatenextraktion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476600" y="4991040"/>
            <a:ext cx="32378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939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Prompts, Modelle und Eingabeformate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8686800" y="1571760"/>
            <a:ext cx="2952000" cy="37141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686800" y="1571760"/>
            <a:ext cx="2952000" cy="418320"/>
          </a:xfrm>
          <a:prstGeom prst="rect">
            <a:avLst/>
          </a:prstGeom>
          <a:solidFill>
            <a:srgbClr val="003E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8801280" y="1609560"/>
            <a:ext cx="2723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Angereicherter Datenbestand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8906040" y="2247840"/>
            <a:ext cx="251388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Funktionsklassen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und extrahierte Metadaten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9067680" y="3143160"/>
            <a:ext cx="2189880" cy="13680"/>
          </a:xfrm>
          <a:prstGeom prst="rect">
            <a:avLst/>
          </a:prstGeom>
          <a:solidFill>
            <a:srgbClr val="88AF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8906040" y="3476520"/>
            <a:ext cx="251388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Grundlage für Suche, Vergleich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und Wiederverwendung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von Baugruppen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8906040" y="4514760"/>
            <a:ext cx="2513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939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Rückführung in den bestehenden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39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Baugruppendatenbestand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638520" y="3076560"/>
            <a:ext cx="437400" cy="266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8115480" y="3076560"/>
            <a:ext cx="399240" cy="266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85800" y="6610320"/>
            <a:ext cx="1428480" cy="360"/>
          </a:xfrm>
          <a:prstGeom prst="line">
            <a:avLst/>
          </a:prstGeom>
          <a:ln w="38100">
            <a:solidFill>
              <a:srgbClr val="8A0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2114280" y="6610320"/>
            <a:ext cx="1428840" cy="360"/>
          </a:xfrm>
          <a:prstGeom prst="line">
            <a:avLst/>
          </a:prstGeom>
          <a:ln w="38100">
            <a:solidFill>
              <a:srgbClr val="D739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3543120" y="6610320"/>
            <a:ext cx="1428840" cy="360"/>
          </a:xfrm>
          <a:prstGeom prst="line">
            <a:avLst/>
          </a:prstGeom>
          <a:ln w="38100">
            <a:solidFill>
              <a:srgbClr val="E6A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971960" y="6610320"/>
            <a:ext cx="1428840" cy="360"/>
          </a:xfrm>
          <a:prstGeom prst="line">
            <a:avLst/>
          </a:prstGeom>
          <a:ln w="38100">
            <a:solidFill>
              <a:srgbClr val="5B8F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400800" y="6610320"/>
            <a:ext cx="1428480" cy="360"/>
          </a:xfrm>
          <a:prstGeom prst="line">
            <a:avLst/>
          </a:prstGeom>
          <a:ln w="38100">
            <a:solidFill>
              <a:srgbClr val="0081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829280" y="6610320"/>
            <a:ext cx="1428840" cy="360"/>
          </a:xfrm>
          <a:prstGeom prst="line">
            <a:avLst/>
          </a:prstGeom>
          <a:ln w="38100">
            <a:solidFill>
              <a:srgbClr val="354C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9258120" y="6610320"/>
            <a:ext cx="1428840" cy="360"/>
          </a:xfrm>
          <a:prstGeom prst="line">
            <a:avLst/>
          </a:prstGeom>
          <a:ln w="38100">
            <a:solidFill>
              <a:srgbClr val="5127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0686960" y="6610320"/>
            <a:ext cx="1428840" cy="360"/>
          </a:xfrm>
          <a:prstGeom prst="line">
            <a:avLst/>
          </a:prstGeom>
          <a:ln w="38100">
            <a:solidFill>
              <a:srgbClr val="3B7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85800" y="6334200"/>
            <a:ext cx="227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200240" y="6334200"/>
            <a:ext cx="24757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5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1115720" y="6257880"/>
            <a:ext cx="8564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r">
              <a:lnSpc>
                <a:spcPct val="100000"/>
              </a:lnSpc>
            </a:pPr>
            <a:r>
              <a:rPr lang="en-US" sz="1500" b="1" u="none" strike="noStrike">
                <a:solidFill>
                  <a:srgbClr val="E2002B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704880" y="399960"/>
            <a:ext cx="93337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202020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04880" y="800280"/>
            <a:ext cx="10286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Testdatensatz und Codebook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04880" y="1305000"/>
            <a:ext cx="704160" cy="3744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2476440" y="15523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2419200" y="1495440"/>
            <a:ext cx="123120" cy="123120"/>
          </a:xfrm>
          <a:prstGeom prst="ellipse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18288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41814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5910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59436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53532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77058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71150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94680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88772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704880" y="2171880"/>
            <a:ext cx="285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Funktionsklassen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04880" y="2571840"/>
            <a:ext cx="1342440" cy="115164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238400" y="2743200"/>
            <a:ext cx="275400" cy="275400"/>
          </a:xfrm>
          <a:prstGeom prst="ellipse">
            <a:avLst/>
          </a:prstGeom>
          <a:solidFill>
            <a:srgbClr val="E8F3FA"/>
          </a:solidFill>
          <a:ln w="9525">
            <a:solidFill>
              <a:srgbClr val="007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800280" y="3162240"/>
            <a:ext cx="11516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Linear-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einheit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800280" y="3533760"/>
            <a:ext cx="11516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n = 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2190600" y="2571840"/>
            <a:ext cx="1342440" cy="115164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2724120" y="2743200"/>
            <a:ext cx="275400" cy="275400"/>
          </a:xfrm>
          <a:prstGeom prst="ellipse">
            <a:avLst/>
          </a:prstGeom>
          <a:solidFill>
            <a:srgbClr val="E8F3FA"/>
          </a:solidFill>
          <a:ln w="9525">
            <a:solidFill>
              <a:srgbClr val="007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2286000" y="3162240"/>
            <a:ext cx="11516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Gantry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2286000" y="3533760"/>
            <a:ext cx="11516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n = 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3676680" y="2571840"/>
            <a:ext cx="1342440" cy="115164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4210200" y="2743200"/>
            <a:ext cx="275400" cy="275400"/>
          </a:xfrm>
          <a:prstGeom prst="ellipse">
            <a:avLst/>
          </a:prstGeom>
          <a:solidFill>
            <a:srgbClr val="E8F3FA"/>
          </a:solidFill>
          <a:ln w="9525">
            <a:solidFill>
              <a:srgbClr val="007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772080" y="3162240"/>
            <a:ext cx="11516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Roboter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772080" y="3533760"/>
            <a:ext cx="11516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n = 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162400" y="2571840"/>
            <a:ext cx="1342440" cy="115164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5695920" y="2743200"/>
            <a:ext cx="275400" cy="275400"/>
          </a:xfrm>
          <a:prstGeom prst="ellipse">
            <a:avLst/>
          </a:prstGeom>
          <a:solidFill>
            <a:srgbClr val="E8F3FA"/>
          </a:solidFill>
          <a:ln w="9525">
            <a:solidFill>
              <a:srgbClr val="007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5257800" y="3162240"/>
            <a:ext cx="11516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Greifer /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Endeffektor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5257800" y="3533760"/>
            <a:ext cx="11516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n = 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447920" y="4000680"/>
            <a:ext cx="1342440" cy="115164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981080" y="4172040"/>
            <a:ext cx="275400" cy="275400"/>
          </a:xfrm>
          <a:prstGeom prst="ellipse">
            <a:avLst/>
          </a:prstGeom>
          <a:solidFill>
            <a:srgbClr val="E8F3FA"/>
          </a:solidFill>
          <a:ln w="9525">
            <a:solidFill>
              <a:srgbClr val="007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542960" y="4591080"/>
            <a:ext cx="11516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Handhabungs-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baugruppe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1542960" y="4962600"/>
            <a:ext cx="11516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n = 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2933640" y="4000680"/>
            <a:ext cx="1342440" cy="115164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467160" y="4172040"/>
            <a:ext cx="275400" cy="275400"/>
          </a:xfrm>
          <a:prstGeom prst="ellipse">
            <a:avLst/>
          </a:prstGeom>
          <a:solidFill>
            <a:srgbClr val="E8F3FA"/>
          </a:solidFill>
          <a:ln w="9525">
            <a:solidFill>
              <a:srgbClr val="007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029040" y="4591080"/>
            <a:ext cx="11516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Rotation-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einheit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029040" y="4962600"/>
            <a:ext cx="11516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n = 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4419720" y="4000680"/>
            <a:ext cx="1342440" cy="115164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4952880" y="4172040"/>
            <a:ext cx="275400" cy="275400"/>
          </a:xfrm>
          <a:prstGeom prst="ellipse">
            <a:avLst/>
          </a:prstGeom>
          <a:solidFill>
            <a:srgbClr val="E8F3FA"/>
          </a:solidFill>
          <a:ln w="9525">
            <a:solidFill>
              <a:srgbClr val="007B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4514760" y="4591080"/>
            <a:ext cx="11516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Kombinierte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Einheit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4514760" y="4962600"/>
            <a:ext cx="11516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n = 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7048440" y="2171880"/>
            <a:ext cx="4457160" cy="4047480"/>
          </a:xfrm>
          <a:prstGeom prst="roundRect">
            <a:avLst>
              <a:gd name="adj" fmla="val 1882"/>
            </a:avLst>
          </a:prstGeom>
          <a:solidFill>
            <a:srgbClr val="F4F9FC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7448400" y="2523960"/>
            <a:ext cx="2666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Testdatensatz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7448400" y="3000240"/>
            <a:ext cx="23806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129 Baugruppen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448400" y="3581280"/>
            <a:ext cx="314244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Zeichnungen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Stücklisten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Datenblätter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DFC- und CAD-Informationen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448400" y="4857480"/>
            <a:ext cx="3238560" cy="360"/>
          </a:xfrm>
          <a:prstGeom prst="line">
            <a:avLst/>
          </a:prstGeom>
          <a:ln w="9525">
            <a:solidFill>
              <a:srgbClr val="B9DC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448400" y="5029200"/>
            <a:ext cx="1523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Codebook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448400" y="5334120"/>
            <a:ext cx="314244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Sieben Funktionsklassen definieren die Zuordnung.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Ground Truth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Workshop, Übereinstimmung und Bewertungsregime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571680" y="1523880"/>
            <a:ext cx="3142440" cy="20948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571680" y="1523880"/>
            <a:ext cx="314244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66720" y="1562040"/>
            <a:ext cx="29520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14240" y="2057400"/>
            <a:ext cx="2856960" cy="14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16 Teilnehmende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4 Ingenieurinnen und Ingenieure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12 Studierende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Unabhängige Zuordnung auf Basis desselben Codebooks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191120" y="1523880"/>
            <a:ext cx="3332880" cy="20948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191120" y="1523880"/>
            <a:ext cx="333288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4286160" y="1562040"/>
            <a:ext cx="31424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Interrater-Übereinstimmung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334040" y="2057400"/>
            <a:ext cx="3047400" cy="14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Eindeutige Baugruppen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Krippendorffs α = 0,806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8001000" y="1523880"/>
            <a:ext cx="3332880" cy="20948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8001000" y="1523880"/>
            <a:ext cx="333288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8096400" y="1562040"/>
            <a:ext cx="31424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Mehrdeutige Fälle einbezogen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8143920" y="2057400"/>
            <a:ext cx="3047400" cy="14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Eindeutige + mehrdeutige Baugruppen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Krippendorffs α = 0,751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905040" y="4095720"/>
            <a:ext cx="3142440" cy="14281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905040" y="4095720"/>
            <a:ext cx="314244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1000080" y="4133880"/>
            <a:ext cx="29520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E1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1047600" y="4629240"/>
            <a:ext cx="285696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Eindeutig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Codebook-konform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vollständiger Konsens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4476600" y="4095720"/>
            <a:ext cx="3142440" cy="14281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4476600" y="4095720"/>
            <a:ext cx="314244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4572000" y="4133880"/>
            <a:ext cx="29520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E2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4619520" y="4629240"/>
            <a:ext cx="285696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Eindeutig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Codebook-konform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abweichende Einzelmeinung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8048520" y="4095720"/>
            <a:ext cx="3142440" cy="14281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8048520" y="4095720"/>
            <a:ext cx="3142440" cy="408960"/>
          </a:xfrm>
          <a:prstGeom prst="rect">
            <a:avLst/>
          </a:prstGeom>
          <a:solidFill>
            <a:srgbClr val="5F8F1C"/>
          </a:solidFill>
          <a:ln w="0">
            <a:solidFill>
              <a:srgbClr val="5F8F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8143920" y="4133880"/>
            <a:ext cx="29520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8191440" y="4629240"/>
            <a:ext cx="285696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Mehrdeutig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mehrere zulässige Klassen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nach manueller Prüfung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952560" y="5762520"/>
            <a:ext cx="10286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Die manuelle Prüfung definiert die Referenz für die anschließende LLM-Evaluation.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85800" y="6610320"/>
            <a:ext cx="1428480" cy="360"/>
          </a:xfrm>
          <a:prstGeom prst="line">
            <a:avLst/>
          </a:prstGeom>
          <a:ln w="38100">
            <a:solidFill>
              <a:srgbClr val="8A0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2114280" y="6610320"/>
            <a:ext cx="1428840" cy="360"/>
          </a:xfrm>
          <a:prstGeom prst="line">
            <a:avLst/>
          </a:prstGeom>
          <a:ln w="38100">
            <a:solidFill>
              <a:srgbClr val="D739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3543120" y="6610320"/>
            <a:ext cx="1428840" cy="360"/>
          </a:xfrm>
          <a:prstGeom prst="line">
            <a:avLst/>
          </a:prstGeom>
          <a:ln w="38100">
            <a:solidFill>
              <a:srgbClr val="E6A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971960" y="6610320"/>
            <a:ext cx="1428840" cy="360"/>
          </a:xfrm>
          <a:prstGeom prst="line">
            <a:avLst/>
          </a:prstGeom>
          <a:ln w="38100">
            <a:solidFill>
              <a:srgbClr val="5B8F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400800" y="6610320"/>
            <a:ext cx="1428480" cy="360"/>
          </a:xfrm>
          <a:prstGeom prst="line">
            <a:avLst/>
          </a:prstGeom>
          <a:ln w="38100">
            <a:solidFill>
              <a:srgbClr val="0081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7829280" y="6610320"/>
            <a:ext cx="1428840" cy="360"/>
          </a:xfrm>
          <a:prstGeom prst="line">
            <a:avLst/>
          </a:prstGeom>
          <a:ln w="38100">
            <a:solidFill>
              <a:srgbClr val="354C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9258120" y="6610320"/>
            <a:ext cx="1428840" cy="360"/>
          </a:xfrm>
          <a:prstGeom prst="line">
            <a:avLst/>
          </a:prstGeom>
          <a:ln w="38100">
            <a:solidFill>
              <a:srgbClr val="5127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0686960" y="6610320"/>
            <a:ext cx="1428840" cy="360"/>
          </a:xfrm>
          <a:prstGeom prst="line">
            <a:avLst/>
          </a:prstGeom>
          <a:ln w="38100">
            <a:solidFill>
              <a:srgbClr val="3B7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685800" y="6334200"/>
            <a:ext cx="227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200240" y="6334200"/>
            <a:ext cx="24757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5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11115720" y="6257880"/>
            <a:ext cx="8564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r">
              <a:lnSpc>
                <a:spcPct val="100000"/>
              </a:lnSpc>
            </a:pPr>
            <a:r>
              <a:rPr lang="en-US" sz="1500" b="1" u="none" strike="noStrike">
                <a:solidFill>
                  <a:srgbClr val="E2002B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704880" y="399960"/>
            <a:ext cx="93337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202020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704880" y="800280"/>
            <a:ext cx="10286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Durchführung des Labeling-Workshops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704880" y="1305000"/>
            <a:ext cx="704160" cy="3744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2476440" y="15523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24192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8288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4181400" y="1495440"/>
            <a:ext cx="123120" cy="123120"/>
          </a:xfrm>
          <a:prstGeom prst="ellipse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35910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9436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53532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77058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71150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94680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88772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704880" y="2000160"/>
            <a:ext cx="1466280" cy="266040"/>
          </a:xfrm>
          <a:prstGeom prst="roundRect">
            <a:avLst>
              <a:gd name="adj" fmla="val 28571"/>
            </a:avLst>
          </a:prstGeom>
          <a:solidFill>
            <a:srgbClr val="E8F3FA"/>
          </a:solidFill>
          <a:ln w="0">
            <a:solidFill>
              <a:srgbClr val="E8F3F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800280" y="2066760"/>
            <a:ext cx="127548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 algn="ctr">
              <a:lnSpc>
                <a:spcPct val="100000"/>
              </a:lnSpc>
            </a:pPr>
            <a:r>
              <a:rPr lang="en-US" sz="75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16 Teilnehmende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2324160" y="2057400"/>
            <a:ext cx="24757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4 Ingenieur:innen · 12 Studierende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704880" y="2476440"/>
            <a:ext cx="3094920" cy="257112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704880" y="2476440"/>
            <a:ext cx="3094920" cy="380160"/>
          </a:xfrm>
          <a:prstGeom prst="rect">
            <a:avLst/>
          </a:prstGeom>
          <a:solidFill>
            <a:srgbClr val="004F90"/>
          </a:solidFill>
          <a:ln w="0">
            <a:solidFill>
              <a:srgbClr val="004F9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876240" y="2562120"/>
            <a:ext cx="2751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1  Codebook lesen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895320" y="3009960"/>
            <a:ext cx="2714040" cy="19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Definitionen aller sieben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Funktionsklassen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+ Entscheidungslogik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ca. 10 min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3981600" y="3581280"/>
            <a:ext cx="39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4629240" y="2476440"/>
            <a:ext cx="6876360" cy="257112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4629240" y="2476440"/>
            <a:ext cx="6876360" cy="380160"/>
          </a:xfrm>
          <a:prstGeom prst="rect">
            <a:avLst/>
          </a:prstGeom>
          <a:solidFill>
            <a:srgbClr val="004F90"/>
          </a:solidFill>
          <a:ln w="0">
            <a:solidFill>
              <a:srgbClr val="004F9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4809960" y="2562120"/>
            <a:ext cx="3809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2  Baugruppen klassifizieren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4857840" y="3009960"/>
            <a:ext cx="333288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5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129 Baugruppen · randomisierte Reihenfolge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4857840" y="3247920"/>
            <a:ext cx="247572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>
              <a:lnSpc>
                <a:spcPct val="100000"/>
              </a:lnSpc>
            </a:pPr>
            <a:r>
              <a:rPr lang="en-US" sz="600" b="1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Angaben zur Baugruppe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620120" y="3247920"/>
            <a:ext cx="19044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>
              <a:lnSpc>
                <a:spcPct val="100000"/>
              </a:lnSpc>
            </a:pPr>
            <a:r>
              <a:rPr lang="en-US" sz="60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Eintrag der Teilnehmenden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4857840" y="3409920"/>
            <a:ext cx="570960" cy="399240"/>
          </a:xfrm>
          <a:prstGeom prst="rect">
            <a:avLst/>
          </a:prstGeom>
          <a:solidFill>
            <a:srgbClr val="EEF2F4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4876920" y="3495600"/>
            <a:ext cx="532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SAP-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Nr.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5429160" y="3409920"/>
            <a:ext cx="656640" cy="399240"/>
          </a:xfrm>
          <a:prstGeom prst="rect">
            <a:avLst/>
          </a:prstGeom>
          <a:solidFill>
            <a:srgbClr val="EEF2F4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5448240" y="3495600"/>
            <a:ext cx="61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Teamcenter-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ID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086520" y="3409920"/>
            <a:ext cx="942120" cy="399240"/>
          </a:xfrm>
          <a:prstGeom prst="rect">
            <a:avLst/>
          </a:prstGeom>
          <a:solidFill>
            <a:srgbClr val="EEF2F4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6105600" y="3495600"/>
            <a:ext cx="904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Benennung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7029360" y="3409920"/>
            <a:ext cx="570960" cy="399240"/>
          </a:xfrm>
          <a:prstGeom prst="rect">
            <a:avLst/>
          </a:prstGeom>
          <a:solidFill>
            <a:srgbClr val="EEF2F4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7048440" y="3495600"/>
            <a:ext cx="532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Abbildung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7601040" y="3409920"/>
            <a:ext cx="904320" cy="399240"/>
          </a:xfrm>
          <a:prstGeom prst="rect">
            <a:avLst/>
          </a:prstGeom>
          <a:solidFill>
            <a:srgbClr val="E8F3FA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7620120" y="3495600"/>
            <a:ext cx="866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Funktions-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klasse*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505720" y="3409920"/>
            <a:ext cx="618480" cy="399240"/>
          </a:xfrm>
          <a:prstGeom prst="rect">
            <a:avLst/>
          </a:prstGeom>
          <a:solidFill>
            <a:srgbClr val="E8F3FA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8524800" y="3495600"/>
            <a:ext cx="580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Konfidenz*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9124920" y="3409920"/>
            <a:ext cx="561240" cy="399240"/>
          </a:xfrm>
          <a:prstGeom prst="rect">
            <a:avLst/>
          </a:prstGeom>
          <a:solidFill>
            <a:srgbClr val="E8F3FA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9144000" y="3495600"/>
            <a:ext cx="52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Zweitwahl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9686880" y="3409920"/>
            <a:ext cx="685080" cy="399240"/>
          </a:xfrm>
          <a:prstGeom prst="rect">
            <a:avLst/>
          </a:prstGeom>
          <a:solidFill>
            <a:srgbClr val="E8F3FA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9705960" y="3495600"/>
            <a:ext cx="64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Quelle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0372680" y="3409920"/>
            <a:ext cx="523080" cy="399240"/>
          </a:xfrm>
          <a:prstGeom prst="rect">
            <a:avLst/>
          </a:prstGeom>
          <a:solidFill>
            <a:srgbClr val="E8F3FA"/>
          </a:solidFill>
          <a:ln w="0">
            <a:solidFill>
              <a:srgbClr val="CDE1E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0391760" y="3495600"/>
            <a:ext cx="484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Zeit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4857480" y="3809880"/>
            <a:ext cx="6039000" cy="360"/>
          </a:xfrm>
          <a:prstGeom prst="line">
            <a:avLst/>
          </a:prstGeom>
          <a:ln w="9525">
            <a:solidFill>
              <a:srgbClr val="B9DC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4857480" y="4028760"/>
            <a:ext cx="6039000" cy="360"/>
          </a:xfrm>
          <a:prstGeom prst="line">
            <a:avLst/>
          </a:prstGeom>
          <a:ln w="9525">
            <a:solidFill>
              <a:srgbClr val="D5E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4857840" y="4172040"/>
            <a:ext cx="95184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>
              <a:lnSpc>
                <a:spcPct val="100000"/>
              </a:lnSpc>
            </a:pPr>
            <a:r>
              <a:rPr lang="en-US" sz="60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* Pflichtfelder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704880" y="5334120"/>
            <a:ext cx="10800720" cy="742320"/>
          </a:xfrm>
          <a:prstGeom prst="roundRect">
            <a:avLst>
              <a:gd name="adj" fmla="val 10256"/>
            </a:avLst>
          </a:prstGeom>
          <a:solidFill>
            <a:srgbClr val="F4F9FC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952560" y="5477040"/>
            <a:ext cx="30474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Arbeitsgrundlage und Erfassung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952560" y="5791320"/>
            <a:ext cx="209484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75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Technische Unterlagen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4000680" y="5791320"/>
            <a:ext cx="314244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75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freigeschalteter Teamcenter- und DFC-Zugang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7981920" y="5791320"/>
            <a:ext cx="266616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75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Klassifikationszeit je Baugruppe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Bewertung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Label- und Bewertungsvarianten V1–V3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781200" y="1428840"/>
            <a:ext cx="106671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Stratifizierte Auswahl: 14 Baugruppen, davon 7 E1-Fälle mit je einer Baugruppe pro Funktionsklasse sowie 7 weitere E2-/M-Fälle.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857160" y="2238480"/>
            <a:ext cx="2856960" cy="21898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857160" y="2238480"/>
            <a:ext cx="285696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952560" y="2276640"/>
            <a:ext cx="2666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V1  Nur Primärklasse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000080" y="2771640"/>
            <a:ext cx="2571120" cy="15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Eine Funktionsklasse pro Baugruppe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3848040" y="3095640"/>
            <a:ext cx="523080" cy="380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4572000" y="2238480"/>
            <a:ext cx="2856960" cy="21898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4572000" y="2238480"/>
            <a:ext cx="285696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4667400" y="2276640"/>
            <a:ext cx="2666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V2  Zulässige Alternative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4714920" y="2771640"/>
            <a:ext cx="2571120" cy="15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Primärklasse plus dokumentiertes Alternativlabel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7562880" y="3095640"/>
            <a:ext cx="523080" cy="380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8286840" y="2238480"/>
            <a:ext cx="2856960" cy="21898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8286840" y="2238480"/>
            <a:ext cx="285696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8381880" y="2276640"/>
            <a:ext cx="2666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V3  Nicht entscheidbar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8429760" y="2771640"/>
            <a:ext cx="2571120" cy="15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V2 plus Option bei nicht ausreichender Information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2000160" y="4905360"/>
            <a:ext cx="3714120" cy="9518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2000160" y="4905360"/>
            <a:ext cx="371412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2095560" y="4943520"/>
            <a:ext cx="35236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Strict Primary-Label Accuracy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2143080" y="5438880"/>
            <a:ext cx="34282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Korrekt nur bei Übereinstimmung mit dem Primärlabel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6477120" y="4905360"/>
            <a:ext cx="3714120" cy="95184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6477120" y="4905360"/>
            <a:ext cx="371412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6572160" y="4943520"/>
            <a:ext cx="35236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Allowed-Label-Set Accuracy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6620040" y="5438880"/>
            <a:ext cx="34282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Für M zusätzlich: Primärlabel oder dokumentierte zulässige Alternative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685800" y="6610320"/>
            <a:ext cx="1428480" cy="360"/>
          </a:xfrm>
          <a:prstGeom prst="line">
            <a:avLst/>
          </a:prstGeom>
          <a:ln w="38100">
            <a:solidFill>
              <a:srgbClr val="8A0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2114280" y="6610320"/>
            <a:ext cx="1428840" cy="360"/>
          </a:xfrm>
          <a:prstGeom prst="line">
            <a:avLst/>
          </a:prstGeom>
          <a:ln w="38100">
            <a:solidFill>
              <a:srgbClr val="D739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3543120" y="6610320"/>
            <a:ext cx="1428840" cy="360"/>
          </a:xfrm>
          <a:prstGeom prst="line">
            <a:avLst/>
          </a:prstGeom>
          <a:ln w="38100">
            <a:solidFill>
              <a:srgbClr val="E6A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4971960" y="6610320"/>
            <a:ext cx="1428840" cy="360"/>
          </a:xfrm>
          <a:prstGeom prst="line">
            <a:avLst/>
          </a:prstGeom>
          <a:ln w="38100">
            <a:solidFill>
              <a:srgbClr val="5B8F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400800" y="6610320"/>
            <a:ext cx="1428480" cy="360"/>
          </a:xfrm>
          <a:prstGeom prst="line">
            <a:avLst/>
          </a:prstGeom>
          <a:ln w="38100">
            <a:solidFill>
              <a:srgbClr val="0081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7829280" y="6610320"/>
            <a:ext cx="1428840" cy="360"/>
          </a:xfrm>
          <a:prstGeom prst="line">
            <a:avLst/>
          </a:prstGeom>
          <a:ln w="38100">
            <a:solidFill>
              <a:srgbClr val="354C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9258120" y="6610320"/>
            <a:ext cx="1428840" cy="360"/>
          </a:xfrm>
          <a:prstGeom prst="line">
            <a:avLst/>
          </a:prstGeom>
          <a:ln w="38100">
            <a:solidFill>
              <a:srgbClr val="5127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0686960" y="6610320"/>
            <a:ext cx="1428840" cy="360"/>
          </a:xfrm>
          <a:prstGeom prst="line">
            <a:avLst/>
          </a:prstGeom>
          <a:ln w="38100">
            <a:solidFill>
              <a:srgbClr val="3B7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685800" y="6334200"/>
            <a:ext cx="227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1200240" y="6334200"/>
            <a:ext cx="24757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5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11115720" y="6257880"/>
            <a:ext cx="8564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r">
              <a:lnSpc>
                <a:spcPct val="100000"/>
              </a:lnSpc>
            </a:pPr>
            <a:r>
              <a:rPr lang="en-US" sz="1500" b="1" u="none" strike="noStrike">
                <a:solidFill>
                  <a:srgbClr val="E2002B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704880" y="399960"/>
            <a:ext cx="93337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202020"/>
                </a:solidFill>
                <a:effectLst/>
                <a:uFillTx/>
                <a:latin typeface="DejaVu Sans"/>
                <a:ea typeface="DejaVu Sans"/>
              </a:rPr>
              <a:t>Workshop-Auswertung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704880" y="800280"/>
            <a:ext cx="10286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Prüfung der Testbasis und Bewertungsregime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704880" y="1305000"/>
            <a:ext cx="704160" cy="3744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2476440" y="15523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24192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18288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41814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35910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5943600" y="1495440"/>
            <a:ext cx="123120" cy="123120"/>
          </a:xfrm>
          <a:prstGeom prst="ellipse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53532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77058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71150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94680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88772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704880" y="2000160"/>
            <a:ext cx="80956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Zusammenführung der Annotationen und manuelle Prüfung der Referenzlabels durch zwei Personen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704880" y="2457360"/>
            <a:ext cx="2285280" cy="20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704880" y="2457360"/>
            <a:ext cx="2285280" cy="380160"/>
          </a:xfrm>
          <a:prstGeom prst="rect">
            <a:avLst/>
          </a:prstGeom>
          <a:solidFill>
            <a:srgbClr val="004F90"/>
          </a:solidFill>
          <a:ln w="0">
            <a:solidFill>
              <a:srgbClr val="004F9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876240" y="2543040"/>
            <a:ext cx="1942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E1  ·  n = 7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895320" y="2990880"/>
            <a:ext cx="19044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Eindeutig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Vollständiger Konsens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Referenzlabel bestätigt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3181320" y="2457360"/>
            <a:ext cx="2285280" cy="20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3181320" y="2457360"/>
            <a:ext cx="2285280" cy="38016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3352680" y="2543040"/>
            <a:ext cx="1942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E2  ·  n = 4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3371760" y="2990880"/>
            <a:ext cx="19044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Eindeutig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Abweichende Einzelmeinung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Referenzlabel bestätigt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5657760" y="2457360"/>
            <a:ext cx="2285280" cy="20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5657760" y="2457360"/>
            <a:ext cx="2285280" cy="380160"/>
          </a:xfrm>
          <a:prstGeom prst="rect">
            <a:avLst/>
          </a:prstGeom>
          <a:solidFill>
            <a:srgbClr val="5B8F19"/>
          </a:solidFill>
          <a:ln w="0">
            <a:solidFill>
              <a:srgbClr val="5B8F1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5829480" y="2543040"/>
            <a:ext cx="1942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M  ·  n = 3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5848200" y="2990880"/>
            <a:ext cx="19044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Mehrdeutig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Mehrere zulässige Klassen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nach manueller Prüfung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8210520" y="2457360"/>
            <a:ext cx="3295080" cy="2075760"/>
          </a:xfrm>
          <a:prstGeom prst="roundRect">
            <a:avLst>
              <a:gd name="adj" fmla="val 3670"/>
            </a:avLst>
          </a:prstGeom>
          <a:solidFill>
            <a:srgbClr val="F4F9FC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8477280" y="2724120"/>
            <a:ext cx="25711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Übereinstimmung der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Annotator:innen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8477280" y="3352680"/>
            <a:ext cx="19044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Krippendorffs 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8477280" y="3666960"/>
            <a:ext cx="233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E1 + E2     α = 0,806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Alle Fälle   α = 0,751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704880" y="4952880"/>
            <a:ext cx="10800720" cy="875520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971640" y="5133960"/>
            <a:ext cx="28569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Ergebnis für die LLM-Evaluation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971640" y="5457960"/>
            <a:ext cx="50475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75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Eindeutige und mehrdeutige Fälle werden getrennt bewertet.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7524720" y="5315040"/>
            <a:ext cx="32378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Klassifikationszeit: Ø x min pro Baugruppe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PDF-Experimente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Prompt-Varianten und Modellvergleich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523800" y="1476360"/>
            <a:ext cx="2618640" cy="10659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523800" y="1476360"/>
            <a:ext cx="261864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619200" y="1514520"/>
            <a:ext cx="24282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P1  Klassenamen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666720" y="2009880"/>
            <a:ext cx="233280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Nur die 7 auswählbaren Klassen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3429000" y="1476360"/>
            <a:ext cx="2618640" cy="10659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3429000" y="1476360"/>
            <a:ext cx="261864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3524400" y="1514520"/>
            <a:ext cx="24282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P2  + Definitionen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3571920" y="2009880"/>
            <a:ext cx="233280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Definition jeder Funktionsklasse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6334200" y="1476360"/>
            <a:ext cx="2618640" cy="10659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6334200" y="1476360"/>
            <a:ext cx="261864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6429240" y="1514520"/>
            <a:ext cx="24282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P3  + Entscheidungsregeln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6477120" y="2009880"/>
            <a:ext cx="233280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Codebook-basierter Klassifikationsprozess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9239400" y="1476360"/>
            <a:ext cx="2618640" cy="10659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9239400" y="1476360"/>
            <a:ext cx="261864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9334440" y="1514520"/>
            <a:ext cx="24282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P3 erweitert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9381960" y="2009880"/>
            <a:ext cx="233280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Konkrete Fälle und definierte Ausnahmen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647640" y="2762280"/>
            <a:ext cx="4571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Strict Primary-Label Accuracy bei PDF-Eingabe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2428920" y="3209760"/>
            <a:ext cx="1809000" cy="513720"/>
          </a:xfrm>
          <a:prstGeom prst="rect">
            <a:avLst/>
          </a:prstGeom>
          <a:solidFill>
            <a:srgbClr val="003E7E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2428920" y="330516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4238640" y="3209760"/>
            <a:ext cx="1809000" cy="513720"/>
          </a:xfrm>
          <a:prstGeom prst="rect">
            <a:avLst/>
          </a:prstGeom>
          <a:solidFill>
            <a:srgbClr val="003E7E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4238640" y="330516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6048360" y="3209760"/>
            <a:ext cx="1809000" cy="513720"/>
          </a:xfrm>
          <a:prstGeom prst="rect">
            <a:avLst/>
          </a:prstGeom>
          <a:solidFill>
            <a:srgbClr val="003E7E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048360" y="330516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7858080" y="3209760"/>
            <a:ext cx="1809000" cy="513720"/>
          </a:xfrm>
          <a:prstGeom prst="rect">
            <a:avLst/>
          </a:prstGeom>
          <a:solidFill>
            <a:srgbClr val="003E7E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7858080" y="3305160"/>
            <a:ext cx="1809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P3 erweitert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19200" y="3724200"/>
            <a:ext cx="1809000" cy="513720"/>
          </a:xfrm>
          <a:prstGeom prst="rect">
            <a:avLst/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695160" y="3809880"/>
            <a:ext cx="1656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Gemini 2.5 Pro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2428920" y="372420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2505240" y="386712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4238640" y="372420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4314960" y="386712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6048360" y="3724200"/>
            <a:ext cx="1809000" cy="513720"/>
          </a:xfrm>
          <a:prstGeom prst="rect">
            <a:avLst/>
          </a:prstGeom>
          <a:solidFill>
            <a:srgbClr val="BBD9F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6124680" y="386712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7858080" y="3724200"/>
            <a:ext cx="1809000" cy="513720"/>
          </a:xfrm>
          <a:prstGeom prst="rect">
            <a:avLst/>
          </a:prstGeom>
          <a:solidFill>
            <a:srgbClr val="91C1E6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7934400" y="386712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619200" y="4238640"/>
            <a:ext cx="1809000" cy="513720"/>
          </a:xfrm>
          <a:prstGeom prst="rect">
            <a:avLst/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695160" y="4324320"/>
            <a:ext cx="1656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Gemini 2.5 Flash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2428920" y="423864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2505240" y="438156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4238640" y="423864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4314960" y="438156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6048360" y="4238640"/>
            <a:ext cx="1809000" cy="513720"/>
          </a:xfrm>
          <a:prstGeom prst="rect">
            <a:avLst/>
          </a:prstGeom>
          <a:solidFill>
            <a:srgbClr val="BBD9F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6124680" y="438156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7858080" y="4238640"/>
            <a:ext cx="1809000" cy="513720"/>
          </a:xfrm>
          <a:prstGeom prst="rect">
            <a:avLst/>
          </a:prstGeom>
          <a:solidFill>
            <a:srgbClr val="91C1E6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7934400" y="438156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619200" y="4753080"/>
            <a:ext cx="1809000" cy="513720"/>
          </a:xfrm>
          <a:prstGeom prst="rect">
            <a:avLst/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695160" y="4838760"/>
            <a:ext cx="1656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Claude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2428920" y="475308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2505240" y="489600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4238640" y="475308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4314960" y="489600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6048360" y="4753080"/>
            <a:ext cx="1809000" cy="513720"/>
          </a:xfrm>
          <a:prstGeom prst="rect">
            <a:avLst/>
          </a:prstGeom>
          <a:solidFill>
            <a:srgbClr val="BBD9F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6124680" y="489600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7858080" y="4753080"/>
            <a:ext cx="1809000" cy="513720"/>
          </a:xfrm>
          <a:prstGeom prst="rect">
            <a:avLst/>
          </a:prstGeom>
          <a:solidFill>
            <a:srgbClr val="91C1E6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7934400" y="489600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619200" y="5267160"/>
            <a:ext cx="1809000" cy="513720"/>
          </a:xfrm>
          <a:prstGeom prst="rect">
            <a:avLst/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695160" y="5353200"/>
            <a:ext cx="1656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GPT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2428920" y="526716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2505240" y="541008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4238640" y="5267160"/>
            <a:ext cx="1809000" cy="513720"/>
          </a:xfrm>
          <a:prstGeom prst="rect">
            <a:avLst/>
          </a:prstGeom>
          <a:solidFill>
            <a:srgbClr val="EDF4FA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4314960" y="541008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6048360" y="5267160"/>
            <a:ext cx="1809000" cy="513720"/>
          </a:xfrm>
          <a:prstGeom prst="rect">
            <a:avLst/>
          </a:prstGeom>
          <a:solidFill>
            <a:srgbClr val="BBD9F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6124680" y="541008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7858080" y="5267160"/>
            <a:ext cx="1809000" cy="513720"/>
          </a:xfrm>
          <a:prstGeom prst="rect">
            <a:avLst/>
          </a:prstGeom>
          <a:solidFill>
            <a:srgbClr val="91C1E6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7934400" y="5410080"/>
            <a:ext cx="1656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9763200" y="3191040"/>
            <a:ext cx="1713960" cy="24282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9763200" y="3191040"/>
            <a:ext cx="1713960" cy="408960"/>
          </a:xfrm>
          <a:prstGeom prst="rect">
            <a:avLst/>
          </a:prstGeom>
          <a:solidFill>
            <a:srgbClr val="5F8F1C"/>
          </a:solidFill>
          <a:ln w="0">
            <a:solidFill>
              <a:srgbClr val="5F8F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9858240" y="3228840"/>
            <a:ext cx="1523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Ergebnis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9906120" y="3724200"/>
            <a:ext cx="1428120" cy="180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16 Kombinationen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Strict Primary-Label Accuracy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2476440" y="13525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242892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182880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419112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359100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595296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535320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7715160" y="1305000"/>
            <a:ext cx="104040" cy="104040"/>
          </a:xfrm>
          <a:prstGeom prst="ellipse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711504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947736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887724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Wiederholbarkeit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Stabilität der finalen Konfiguration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619200" y="1428840"/>
            <a:ext cx="3142440" cy="13518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619200" y="1428840"/>
            <a:ext cx="314244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714240" y="1467000"/>
            <a:ext cx="29520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Konfiguration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762120" y="1962000"/>
            <a:ext cx="2856960" cy="7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Gemini 2.5 Pro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PDF-Eingabe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P3 erweitert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619200" y="3143160"/>
            <a:ext cx="3142440" cy="13518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19200" y="3143160"/>
            <a:ext cx="314244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714240" y="3181320"/>
            <a:ext cx="29520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Wiederholungen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762120" y="3676680"/>
            <a:ext cx="2856960" cy="7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10 unabhängige Läufe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identische Baugruppen und Einstellungen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4334040" y="1428840"/>
            <a:ext cx="6714360" cy="33807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4667400" y="1600200"/>
            <a:ext cx="60951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Strict Primary-Label Accuracy und Macro-F1 über 10 Wiederholungen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4857840" y="2190600"/>
            <a:ext cx="18360" cy="1904400"/>
          </a:xfrm>
          <a:prstGeom prst="rect">
            <a:avLst/>
          </a:prstGeom>
          <a:solidFill>
            <a:srgbClr val="5E6872"/>
          </a:solidFill>
          <a:ln w="0">
            <a:solidFill>
              <a:srgbClr val="5E6872"/>
            </a:solidFill>
          </a:ln>
        </p:spPr>
        <p:style>
          <a:lnRef idx="0"/>
          <a:fillRef idx="0"/>
          <a:effectRef idx="0"/>
          <a:fontRef idx="minor"/>
        </p:style>
        <p:txBody>
          <a:bodyPr lIns="9360" tIns="45000" rIns="936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4857840" y="4095720"/>
            <a:ext cx="5238000" cy="18360"/>
          </a:xfrm>
          <a:prstGeom prst="rect">
            <a:avLst/>
          </a:prstGeom>
          <a:solidFill>
            <a:srgbClr val="5E6872"/>
          </a:solidFill>
          <a:ln w="0">
            <a:solidFill>
              <a:srgbClr val="5E687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509580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5143680" y="314316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559116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5638680" y="300024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608652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6134040" y="285768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658188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6629400" y="314316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707724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7124760" y="300024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757224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7620120" y="285768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806760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8115480" y="314316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856296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8610480" y="300024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905832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9105840" y="285768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9553680" y="4219560"/>
            <a:ext cx="1897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0000" lnSpcReduction="1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9601200" y="3143160"/>
            <a:ext cx="94680" cy="94680"/>
          </a:xfrm>
          <a:prstGeom prst="ellipse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47520" tIns="22680" rIns="47520" bIns="226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6381720" y="3191040"/>
            <a:ext cx="26661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Diagramm nach Batch-Auswertung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1714680" y="5191200"/>
            <a:ext cx="2380680" cy="6850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1714680" y="5191200"/>
            <a:ext cx="238068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1809720" y="5229360"/>
            <a:ext cx="21898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Mean ± 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1857240" y="5724360"/>
            <a:ext cx="2094840" cy="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rmAutofit fontScale="25000" lnSpcReduction="19999"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Strict Accuracy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4857840" y="5191200"/>
            <a:ext cx="2380680" cy="6850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4857840" y="5191200"/>
            <a:ext cx="238068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4952880" y="5229360"/>
            <a:ext cx="21898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Mean ± 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5000760" y="5724360"/>
            <a:ext cx="2094840" cy="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rmAutofit fontScale="25000" lnSpcReduction="19999"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Macro-F1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8001000" y="5191200"/>
            <a:ext cx="2380680" cy="6850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8001000" y="5191200"/>
            <a:ext cx="2380680" cy="408960"/>
          </a:xfrm>
          <a:prstGeom prst="rect">
            <a:avLst/>
          </a:prstGeom>
          <a:solidFill>
            <a:srgbClr val="5F8F1C"/>
          </a:solidFill>
          <a:ln w="0">
            <a:solidFill>
              <a:srgbClr val="5F8F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8096400" y="5229360"/>
            <a:ext cx="21898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Range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8143920" y="5724360"/>
            <a:ext cx="2094840" cy="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rmAutofit fontScale="25000" lnSpcReduction="19999"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Min. / Max.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2476440" y="13525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242892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182880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419112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359100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595296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535320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7715160" y="1305000"/>
            <a:ext cx="104040" cy="104040"/>
          </a:xfrm>
          <a:prstGeom prst="ellipse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711504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9477360" y="1305000"/>
            <a:ext cx="84960" cy="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2480" tIns="15840" rIns="42480" bIns="15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8877240" y="1438200"/>
            <a:ext cx="12945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25000" lnSpcReduction="19999"/>
          </a:bodyPr>
          <a:p>
            <a:pPr algn="ctr">
              <a:lnSpc>
                <a:spcPct val="100000"/>
              </a:lnSpc>
            </a:pPr>
            <a:r>
              <a:rPr lang="en-US" sz="64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Eingabeform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PDF vs. reine Bild-Eingabe bei P3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619200" y="1428840"/>
            <a:ext cx="2428200" cy="13327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619200" y="1428840"/>
            <a:ext cx="242820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714240" y="1467000"/>
            <a:ext cx="22377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Kontrolliert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762120" y="1962000"/>
            <a:ext cx="21423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Prompt P3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Vergleich nur gemeinsamer Modelle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619200" y="3143160"/>
            <a:ext cx="2428200" cy="16185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619200" y="3143160"/>
            <a:ext cx="242820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714240" y="3181320"/>
            <a:ext cx="22377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Bild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762120" y="3676680"/>
            <a:ext cx="2142360" cy="9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Nur visuelle Dokumentinformation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3333600" y="2952720"/>
            <a:ext cx="808920" cy="475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4476600" y="1428840"/>
            <a:ext cx="6428520" cy="33328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4762440" y="1600200"/>
            <a:ext cx="58096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Strikte Accuracy je Modell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5000760" y="2143080"/>
            <a:ext cx="18360" cy="1999440"/>
          </a:xfrm>
          <a:prstGeom prst="rect">
            <a:avLst/>
          </a:prstGeom>
          <a:solidFill>
            <a:srgbClr val="5E6872"/>
          </a:solidFill>
          <a:ln w="0">
            <a:solidFill>
              <a:srgbClr val="5E6872"/>
            </a:solidFill>
          </a:ln>
        </p:spPr>
        <p:style>
          <a:lnRef idx="0"/>
          <a:fillRef idx="0"/>
          <a:effectRef idx="0"/>
          <a:fontRef idx="minor"/>
        </p:style>
        <p:txBody>
          <a:bodyPr lIns="9360" tIns="45000" rIns="936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5000760" y="4143240"/>
            <a:ext cx="5142960" cy="18360"/>
          </a:xfrm>
          <a:prstGeom prst="rect">
            <a:avLst/>
          </a:prstGeom>
          <a:solidFill>
            <a:srgbClr val="5E6872"/>
          </a:solidFill>
          <a:ln w="0">
            <a:solidFill>
              <a:srgbClr val="5E687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571500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611496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554364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681048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721044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663876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790560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830592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773424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900108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940104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882972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7524720" y="2143080"/>
            <a:ext cx="646920" cy="266040"/>
          </a:xfrm>
          <a:prstGeom prst="roundRect">
            <a:avLst>
              <a:gd name="adj" fmla="val 28571"/>
            </a:avLst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7581960" y="2171880"/>
            <a:ext cx="5328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PDF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8334360" y="2143080"/>
            <a:ext cx="1123200" cy="266040"/>
          </a:xfrm>
          <a:prstGeom prst="roundRect">
            <a:avLst>
              <a:gd name="adj" fmla="val 28571"/>
            </a:avLst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8391600" y="2171880"/>
            <a:ext cx="10090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Bild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5905440" y="3666960"/>
            <a:ext cx="3332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Werte aus der Batch-Auswertung einfügen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2476440" y="5048280"/>
            <a:ext cx="7238160" cy="8755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2476440" y="5048280"/>
            <a:ext cx="7238160" cy="408960"/>
          </a:xfrm>
          <a:prstGeom prst="rect">
            <a:avLst/>
          </a:prstGeom>
          <a:solidFill>
            <a:srgbClr val="5F8F1C"/>
          </a:solidFill>
          <a:ln w="0">
            <a:solidFill>
              <a:srgbClr val="5F8F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2571840" y="5086440"/>
            <a:ext cx="7047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Interpretation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2619360" y="5581800"/>
            <a:ext cx="69526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Wie stark trägt der visuelle Kontext ohne extrahierten PDF-Text zur Klassifikation bei?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685800" y="6610320"/>
            <a:ext cx="1428480" cy="360"/>
          </a:xfrm>
          <a:prstGeom prst="line">
            <a:avLst/>
          </a:prstGeom>
          <a:ln w="38100">
            <a:solidFill>
              <a:srgbClr val="8A0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2114280" y="6610320"/>
            <a:ext cx="1428840" cy="360"/>
          </a:xfrm>
          <a:prstGeom prst="line">
            <a:avLst/>
          </a:prstGeom>
          <a:ln w="38100">
            <a:solidFill>
              <a:srgbClr val="D739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3543120" y="6610320"/>
            <a:ext cx="1428840" cy="360"/>
          </a:xfrm>
          <a:prstGeom prst="line">
            <a:avLst/>
          </a:prstGeom>
          <a:ln w="38100">
            <a:solidFill>
              <a:srgbClr val="E6A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4971960" y="6610320"/>
            <a:ext cx="1428840" cy="360"/>
          </a:xfrm>
          <a:prstGeom prst="line">
            <a:avLst/>
          </a:prstGeom>
          <a:ln w="38100">
            <a:solidFill>
              <a:srgbClr val="5B8F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6400800" y="6610320"/>
            <a:ext cx="1428480" cy="360"/>
          </a:xfrm>
          <a:prstGeom prst="line">
            <a:avLst/>
          </a:prstGeom>
          <a:ln w="38100">
            <a:solidFill>
              <a:srgbClr val="0081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7829280" y="6610320"/>
            <a:ext cx="1428840" cy="360"/>
          </a:xfrm>
          <a:prstGeom prst="line">
            <a:avLst/>
          </a:prstGeom>
          <a:ln w="38100">
            <a:solidFill>
              <a:srgbClr val="354C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9258120" y="6610320"/>
            <a:ext cx="1428840" cy="360"/>
          </a:xfrm>
          <a:prstGeom prst="line">
            <a:avLst/>
          </a:prstGeom>
          <a:ln w="38100">
            <a:solidFill>
              <a:srgbClr val="5127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10686960" y="6610320"/>
            <a:ext cx="1428840" cy="360"/>
          </a:xfrm>
          <a:prstGeom prst="line">
            <a:avLst/>
          </a:prstGeom>
          <a:ln w="38100">
            <a:solidFill>
              <a:srgbClr val="3B7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685800" y="6334200"/>
            <a:ext cx="227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8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1200240" y="6334200"/>
            <a:ext cx="24757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5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11115720" y="6257880"/>
            <a:ext cx="8564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r">
              <a:lnSpc>
                <a:spcPct val="100000"/>
              </a:lnSpc>
            </a:pPr>
            <a:r>
              <a:rPr lang="en-US" sz="1500" b="1" u="none" strike="noStrike">
                <a:solidFill>
                  <a:srgbClr val="E2002B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704880" y="399960"/>
            <a:ext cx="93337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202020"/>
                </a:solidFill>
                <a:effectLst/>
                <a:uFillTx/>
                <a:latin typeface="DejaVu Sans"/>
                <a:ea typeface="DejaVu Sans"/>
              </a:rPr>
              <a:t>Eingabeformate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704880" y="800280"/>
            <a:ext cx="10286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Einfluss der verfügbaren Information auf die Klassifikation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704880" y="1305000"/>
            <a:ext cx="704160" cy="3744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2476440" y="15523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24192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18288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41814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35910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59436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53532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7705800" y="1495440"/>
            <a:ext cx="123120" cy="123120"/>
          </a:xfrm>
          <a:prstGeom prst="ellipse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71150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94680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88772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704880" y="2048040"/>
            <a:ext cx="10800720" cy="494640"/>
          </a:xfrm>
          <a:prstGeom prst="roundRect">
            <a:avLst>
              <a:gd name="adj" fmla="val 15385"/>
            </a:avLst>
          </a:prstGeom>
          <a:solidFill>
            <a:srgbClr val="E8F3FA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952560" y="2219400"/>
            <a:ext cx="780984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75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Kontrolliert: Prompt P3 · Vergleich nur gemeinsamer Modelle · identische Funktionsklassen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704880" y="2886120"/>
            <a:ext cx="1885320" cy="158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704880" y="2886120"/>
            <a:ext cx="1885320" cy="380160"/>
          </a:xfrm>
          <a:prstGeom prst="rect">
            <a:avLst/>
          </a:prstGeom>
          <a:solidFill>
            <a:srgbClr val="004F90"/>
          </a:solidFill>
          <a:ln w="0">
            <a:solidFill>
              <a:srgbClr val="004F9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876240" y="2971800"/>
            <a:ext cx="1542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PDF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895320" y="3419640"/>
            <a:ext cx="1504080" cy="93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Text, Zeichnungen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und Layout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2847960" y="2886120"/>
            <a:ext cx="1885320" cy="158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2847960" y="2886120"/>
            <a:ext cx="1885320" cy="38016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3019320" y="2971800"/>
            <a:ext cx="1542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Bild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3038400" y="3419640"/>
            <a:ext cx="1504080" cy="93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Visuelle Dokument-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information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4991040" y="2886120"/>
            <a:ext cx="1885320" cy="158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4991040" y="2886120"/>
            <a:ext cx="1885320" cy="380160"/>
          </a:xfrm>
          <a:prstGeom prst="rect">
            <a:avLst/>
          </a:prstGeom>
          <a:solidFill>
            <a:srgbClr val="5B8F19"/>
          </a:solidFill>
          <a:ln w="0">
            <a:solidFill>
              <a:srgbClr val="5B8F1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5162400" y="2971800"/>
            <a:ext cx="1542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Text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5181480" y="3419640"/>
            <a:ext cx="1504080" cy="93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Extrahierter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Originaltext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7077240" y="3476520"/>
            <a:ext cx="39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7667640" y="2886120"/>
            <a:ext cx="3837960" cy="272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7953480" y="3114720"/>
            <a:ext cx="285696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Allowed-Label-Set Accuracy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je Eingabeformat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8096040" y="5067000"/>
            <a:ext cx="2666880" cy="360"/>
          </a:xfrm>
          <a:prstGeom prst="line">
            <a:avLst/>
          </a:prstGeom>
          <a:ln w="19050">
            <a:solidFill>
              <a:srgbClr val="6473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8096040" y="3762360"/>
            <a:ext cx="360" cy="1304640"/>
          </a:xfrm>
          <a:prstGeom prst="line">
            <a:avLst/>
          </a:prstGeom>
          <a:ln w="19050">
            <a:solidFill>
              <a:srgbClr val="6473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8191440" y="3981600"/>
            <a:ext cx="4946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PDF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8763120" y="4000680"/>
            <a:ext cx="1428120" cy="151560"/>
          </a:xfrm>
          <a:prstGeom prst="roundRect">
            <a:avLst>
              <a:gd name="adj" fmla="val 50000"/>
            </a:avLst>
          </a:prstGeom>
          <a:solidFill>
            <a:srgbClr val="004F90"/>
          </a:solidFill>
          <a:ln w="0">
            <a:solidFill>
              <a:srgbClr val="004F9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8096400" y="5257800"/>
            <a:ext cx="23806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55000" lnSpcReduction="19999"/>
          </a:bodyPr>
          <a:p>
            <a:pPr algn="ctr"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Werte aus Batch-Auswertung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8191440" y="4314960"/>
            <a:ext cx="4946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Bild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8763120" y="4334040"/>
            <a:ext cx="1256760" cy="151560"/>
          </a:xfrm>
          <a:prstGeom prst="roundRect">
            <a:avLst>
              <a:gd name="adj" fmla="val 50000"/>
            </a:avLst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8096400" y="5257800"/>
            <a:ext cx="23806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55000" lnSpcReduction="19999"/>
          </a:bodyPr>
          <a:p>
            <a:pPr algn="ctr"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Werte aus Batch-Auswertung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8191440" y="4648320"/>
            <a:ext cx="4946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Text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8763120" y="4667400"/>
            <a:ext cx="1085040" cy="151560"/>
          </a:xfrm>
          <a:prstGeom prst="roundRect">
            <a:avLst>
              <a:gd name="adj" fmla="val 50000"/>
            </a:avLst>
          </a:prstGeom>
          <a:solidFill>
            <a:srgbClr val="5B8F19"/>
          </a:solidFill>
          <a:ln w="0">
            <a:solidFill>
              <a:srgbClr val="5B8F1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8096400" y="5257800"/>
            <a:ext cx="23806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55000" lnSpcReduction="19999"/>
          </a:bodyPr>
          <a:p>
            <a:pPr algn="ctr"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Werte aus Batch-Auswertung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704880" y="5905440"/>
            <a:ext cx="10800720" cy="370800"/>
          </a:xfrm>
          <a:prstGeom prst="roundRect">
            <a:avLst>
              <a:gd name="adj" fmla="val 20513"/>
            </a:avLst>
          </a:prstGeom>
          <a:solidFill>
            <a:srgbClr val="F4F9FC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952560" y="6019920"/>
            <a:ext cx="92386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475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Interpretation: Welcher Informationsanteil trägt unter gleichen Randbedingungen am stärksten zur Klassifikation bei?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>
            <a:off x="552600" y="304920"/>
            <a:ext cx="5333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32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Eingabeform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552600" y="743040"/>
            <a:ext cx="95241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780" b="0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PDF vs. reiner Text bei P3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552600" y="6600960"/>
            <a:ext cx="1380240" cy="37440"/>
          </a:xfrm>
          <a:prstGeom prst="rect">
            <a:avLst/>
          </a:prstGeom>
          <a:solidFill>
            <a:srgbClr val="9B1B30"/>
          </a:solidFill>
          <a:ln w="0">
            <a:solidFill>
              <a:srgbClr val="9B1B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1933560" y="6600960"/>
            <a:ext cx="1380240" cy="37440"/>
          </a:xfrm>
          <a:prstGeom prst="rect">
            <a:avLst/>
          </a:prstGeom>
          <a:solidFill>
            <a:srgbClr val="D74422"/>
          </a:solidFill>
          <a:ln w="0">
            <a:solidFill>
              <a:srgbClr val="D7442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3314880" y="6600960"/>
            <a:ext cx="1380240" cy="37440"/>
          </a:xfrm>
          <a:prstGeom prst="rect">
            <a:avLst/>
          </a:prstGeom>
          <a:solidFill>
            <a:srgbClr val="E9AA20"/>
          </a:solidFill>
          <a:ln w="0">
            <a:solidFill>
              <a:srgbClr val="E9AA2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4695840" y="6600960"/>
            <a:ext cx="1380240" cy="37440"/>
          </a:xfrm>
          <a:prstGeom prst="rect">
            <a:avLst/>
          </a:prstGeom>
          <a:solidFill>
            <a:srgbClr val="6D9F34"/>
          </a:solidFill>
          <a:ln w="0">
            <a:solidFill>
              <a:srgbClr val="6D9F3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6076800" y="6600960"/>
            <a:ext cx="1380240" cy="37440"/>
          </a:xfrm>
          <a:prstGeom prst="rect">
            <a:avLst/>
          </a:prstGeom>
          <a:solidFill>
            <a:srgbClr val="0880A8"/>
          </a:solidFill>
          <a:ln w="0">
            <a:solidFill>
              <a:srgbClr val="0880A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>
            <a:off x="7458120" y="6600960"/>
            <a:ext cx="1380240" cy="37440"/>
          </a:xfrm>
          <a:prstGeom prst="rect">
            <a:avLst/>
          </a:prstGeom>
          <a:solidFill>
            <a:srgbClr val="354D8A"/>
          </a:solidFill>
          <a:ln w="0">
            <a:solidFill>
              <a:srgbClr val="354D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8839080" y="6600960"/>
            <a:ext cx="1380240" cy="37440"/>
          </a:xfrm>
          <a:prstGeom prst="rect">
            <a:avLst/>
          </a:prstGeom>
          <a:solidFill>
            <a:srgbClr val="512F68"/>
          </a:solidFill>
          <a:ln w="0">
            <a:solidFill>
              <a:srgbClr val="512F6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10220400" y="6600960"/>
            <a:ext cx="1380240" cy="37440"/>
          </a:xfrm>
          <a:prstGeom prst="rect">
            <a:avLst/>
          </a:prstGeom>
          <a:solidFill>
            <a:srgbClr val="2E7D32"/>
          </a:solidFill>
          <a:ln w="0">
            <a:solidFill>
              <a:srgbClr val="2E7D3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552600" y="6324480"/>
            <a:ext cx="33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1047600" y="6324480"/>
            <a:ext cx="4475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67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10572840" y="6210360"/>
            <a:ext cx="1065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D50032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619200" y="1428840"/>
            <a:ext cx="2428200" cy="13327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619200" y="1428840"/>
            <a:ext cx="2428200" cy="40896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714240" y="1467000"/>
            <a:ext cx="22377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Kontrolliert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762120" y="1962000"/>
            <a:ext cx="21423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Prompt P3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Vergleich nur gemeinsamer Modelle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619200" y="3143160"/>
            <a:ext cx="2428200" cy="161856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619200" y="3143160"/>
            <a:ext cx="2428200" cy="408960"/>
          </a:xfrm>
          <a:prstGeom prst="rect">
            <a:avLst/>
          </a:prstGeom>
          <a:solidFill>
            <a:srgbClr val="0069B4"/>
          </a:solidFill>
          <a:ln w="0">
            <a:solidFill>
              <a:srgbClr val="0069B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714240" y="3181320"/>
            <a:ext cx="22377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Text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762120" y="3676680"/>
            <a:ext cx="2142360" cy="9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OCR und extrahierter Originaltext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>
            <a:off x="3333600" y="2952720"/>
            <a:ext cx="808920" cy="475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F7"/>
          </a:solidFill>
          <a:ln w="9525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>
            <a:off x="4476600" y="1428840"/>
            <a:ext cx="6428520" cy="333288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4762440" y="1600200"/>
            <a:ext cx="58096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Strikte Accuracy je Modell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5000760" y="2143080"/>
            <a:ext cx="18360" cy="1999440"/>
          </a:xfrm>
          <a:prstGeom prst="rect">
            <a:avLst/>
          </a:prstGeom>
          <a:solidFill>
            <a:srgbClr val="5E6872"/>
          </a:solidFill>
          <a:ln w="0">
            <a:solidFill>
              <a:srgbClr val="5E6872"/>
            </a:solidFill>
          </a:ln>
        </p:spPr>
        <p:style>
          <a:lnRef idx="0"/>
          <a:fillRef idx="0"/>
          <a:effectRef idx="0"/>
          <a:fontRef idx="minor"/>
        </p:style>
        <p:txBody>
          <a:bodyPr lIns="9360" tIns="45000" rIns="936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5000760" y="4143240"/>
            <a:ext cx="5142960" cy="18360"/>
          </a:xfrm>
          <a:prstGeom prst="rect">
            <a:avLst/>
          </a:prstGeom>
          <a:solidFill>
            <a:srgbClr val="5E6872"/>
          </a:solidFill>
          <a:ln w="0">
            <a:solidFill>
              <a:srgbClr val="5E687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571500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611496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554364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681048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721044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663876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>
            <a:off x="790560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830592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>
            <a:off x="773424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9001080" y="2809800"/>
            <a:ext cx="342360" cy="1332720"/>
          </a:xfrm>
          <a:prstGeom prst="rect">
            <a:avLst/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9401040" y="3095640"/>
            <a:ext cx="342360" cy="1046880"/>
          </a:xfrm>
          <a:prstGeom prst="rect">
            <a:avLst/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8829720" y="4286160"/>
            <a:ext cx="1046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Modell 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7524720" y="2143080"/>
            <a:ext cx="646920" cy="266040"/>
          </a:xfrm>
          <a:prstGeom prst="roundRect">
            <a:avLst>
              <a:gd name="adj" fmla="val 28571"/>
            </a:avLst>
          </a:prstGeom>
          <a:solidFill>
            <a:srgbClr val="003E7E"/>
          </a:solidFill>
          <a:ln w="0">
            <a:solidFill>
              <a:srgbClr val="003E7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7581960" y="2171880"/>
            <a:ext cx="5328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PDF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8334360" y="2143080"/>
            <a:ext cx="1123200" cy="266040"/>
          </a:xfrm>
          <a:prstGeom prst="roundRect">
            <a:avLst>
              <a:gd name="adj" fmla="val 28571"/>
            </a:avLst>
          </a:prstGeom>
          <a:solidFill>
            <a:srgbClr val="7BB4E3"/>
          </a:solidFill>
          <a:ln w="0">
            <a:solidFill>
              <a:srgbClr val="7BB4E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>
            <a:off x="8391600" y="2171880"/>
            <a:ext cx="10090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003E7E"/>
                </a:solidFill>
                <a:effectLst/>
                <a:uFillTx/>
                <a:latin typeface="DejaVu Sans"/>
                <a:ea typeface="DejaVu Sans"/>
              </a:rPr>
              <a:t>Text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5905440" y="3666960"/>
            <a:ext cx="3332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E6872"/>
                </a:solidFill>
                <a:effectLst/>
                <a:uFillTx/>
                <a:latin typeface="DejaVu Sans"/>
                <a:ea typeface="DejaVu Sans"/>
              </a:rPr>
              <a:t>Werte aus der Batch-Auswertung einfügen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2476440" y="5048280"/>
            <a:ext cx="7238160" cy="875520"/>
          </a:xfrm>
          <a:prstGeom prst="rect">
            <a:avLst/>
          </a:prstGeom>
          <a:solidFill>
            <a:srgbClr val="FFFFFF"/>
          </a:solidFill>
          <a:ln w="14288">
            <a:solidFill>
              <a:srgbClr val="003E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2476440" y="5048280"/>
            <a:ext cx="7238160" cy="408960"/>
          </a:xfrm>
          <a:prstGeom prst="rect">
            <a:avLst/>
          </a:prstGeom>
          <a:solidFill>
            <a:srgbClr val="5F8F1C"/>
          </a:solidFill>
          <a:ln w="0">
            <a:solidFill>
              <a:srgbClr val="5F8F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2571840" y="5086440"/>
            <a:ext cx="7047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Interpretation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2619360" y="5581800"/>
            <a:ext cx="69526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111111"/>
                </a:solidFill>
                <a:effectLst/>
                <a:uFillTx/>
                <a:latin typeface="DejaVu Sans"/>
                <a:ea typeface="DejaVu Sans"/>
              </a:rPr>
              <a:t>Wie verändert sich die Leistung ohne Zeichnungen, Layout und Screenshots?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685800" y="6610320"/>
            <a:ext cx="1428480" cy="360"/>
          </a:xfrm>
          <a:prstGeom prst="line">
            <a:avLst/>
          </a:prstGeom>
          <a:ln w="38100">
            <a:solidFill>
              <a:srgbClr val="8A0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>
            <a:off x="2114280" y="6610320"/>
            <a:ext cx="1428840" cy="360"/>
          </a:xfrm>
          <a:prstGeom prst="line">
            <a:avLst/>
          </a:prstGeom>
          <a:ln w="38100">
            <a:solidFill>
              <a:srgbClr val="D739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3543120" y="6610320"/>
            <a:ext cx="1428840" cy="360"/>
          </a:xfrm>
          <a:prstGeom prst="line">
            <a:avLst/>
          </a:prstGeom>
          <a:ln w="38100">
            <a:solidFill>
              <a:srgbClr val="E6A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4971960" y="6610320"/>
            <a:ext cx="1428840" cy="360"/>
          </a:xfrm>
          <a:prstGeom prst="line">
            <a:avLst/>
          </a:prstGeom>
          <a:ln w="38100">
            <a:solidFill>
              <a:srgbClr val="5B8F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6400800" y="6610320"/>
            <a:ext cx="1428480" cy="360"/>
          </a:xfrm>
          <a:prstGeom prst="line">
            <a:avLst/>
          </a:prstGeom>
          <a:ln w="38100">
            <a:solidFill>
              <a:srgbClr val="0081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7829280" y="6610320"/>
            <a:ext cx="1428840" cy="360"/>
          </a:xfrm>
          <a:prstGeom prst="line">
            <a:avLst/>
          </a:prstGeom>
          <a:ln w="38100">
            <a:solidFill>
              <a:srgbClr val="354C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9258120" y="6610320"/>
            <a:ext cx="1428840" cy="360"/>
          </a:xfrm>
          <a:prstGeom prst="line">
            <a:avLst/>
          </a:prstGeom>
          <a:ln w="38100">
            <a:solidFill>
              <a:srgbClr val="5127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10686960" y="6610320"/>
            <a:ext cx="1428840" cy="360"/>
          </a:xfrm>
          <a:prstGeom prst="line">
            <a:avLst/>
          </a:prstGeom>
          <a:ln w="38100">
            <a:solidFill>
              <a:srgbClr val="3B7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685800" y="6334200"/>
            <a:ext cx="2278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75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9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1200240" y="6334200"/>
            <a:ext cx="24757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5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Intern C-SC1 | BMG | Bosch Manufacturing Solutions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11115720" y="6257880"/>
            <a:ext cx="8564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r">
              <a:lnSpc>
                <a:spcPct val="100000"/>
              </a:lnSpc>
            </a:pPr>
            <a:r>
              <a:rPr lang="en-US" sz="1500" b="1" u="none" strike="noStrike">
                <a:solidFill>
                  <a:srgbClr val="E2002B"/>
                </a:solidFill>
                <a:effectLst/>
                <a:uFillTx/>
                <a:latin typeface="DejaVu Sans"/>
                <a:ea typeface="DejaVu Sans"/>
              </a:rPr>
              <a:t>BOSCH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704880" y="399960"/>
            <a:ext cx="93337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202020"/>
                </a:solidFill>
                <a:effectLst/>
                <a:uFillTx/>
                <a:latin typeface="DejaVu Sans"/>
                <a:ea typeface="DejaVu Sans"/>
              </a:rPr>
              <a:t>Zwischenfazit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704880" y="800280"/>
            <a:ext cx="10286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Erkenntnisse und nächste Schritte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>
            <a:off x="704880" y="1305000"/>
            <a:ext cx="704160" cy="37440"/>
          </a:xfrm>
          <a:prstGeom prst="rect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2476440" y="1552320"/>
            <a:ext cx="7048440" cy="360"/>
          </a:xfrm>
          <a:prstGeom prst="line">
            <a:avLst/>
          </a:prstGeom>
          <a:ln w="9525">
            <a:solidFill>
              <a:srgbClr val="B6C9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24192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18288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Testbasis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41814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35910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Workshop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59436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535320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Auswertung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7705800" y="1495440"/>
            <a:ext cx="104040" cy="1040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2200" tIns="29160" rIns="52200" bIns="2916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>
            <a:off x="71150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5C6E79"/>
                </a:solidFill>
                <a:effectLst/>
                <a:uFillTx/>
                <a:latin typeface="DejaVu Sans"/>
                <a:ea typeface="DejaVu Sans"/>
              </a:rPr>
              <a:t>LLM-Experimente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9468000" y="1495440"/>
            <a:ext cx="123120" cy="123120"/>
          </a:xfrm>
          <a:prstGeom prst="ellipse">
            <a:avLst/>
          </a:prstGeom>
          <a:solidFill>
            <a:srgbClr val="007BC0"/>
          </a:solidFill>
          <a:ln w="0">
            <a:solidFill>
              <a:srgbClr val="007BC0"/>
            </a:solidFill>
          </a:ln>
        </p:spPr>
        <p:style>
          <a:lnRef idx="0"/>
          <a:fillRef idx="0"/>
          <a:effectRef idx="0"/>
          <a:fontRef idx="minor"/>
        </p:style>
        <p:txBody>
          <a:bodyPr lIns="61560" tIns="42480" rIns="61560" bIns="424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8877240" y="1704960"/>
            <a:ext cx="12945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860" b="1" u="none" strike="noStrike">
                <a:solidFill>
                  <a:srgbClr val="007BC0"/>
                </a:solidFill>
                <a:effectLst/>
                <a:uFillTx/>
                <a:latin typeface="DejaVu Sans"/>
                <a:ea typeface="DejaVu Sans"/>
              </a:rPr>
              <a:t>Ergebnisbewertung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704880" y="2238480"/>
            <a:ext cx="4857120" cy="316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704880" y="2238480"/>
            <a:ext cx="4857120" cy="380160"/>
          </a:xfrm>
          <a:prstGeom prst="rect">
            <a:avLst/>
          </a:prstGeom>
          <a:solidFill>
            <a:srgbClr val="004F90"/>
          </a:solidFill>
          <a:ln w="0">
            <a:solidFill>
              <a:srgbClr val="004F9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876240" y="2324160"/>
            <a:ext cx="4514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Bisherige Erkenntnisse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>
            <a:off x="895320" y="2771640"/>
            <a:ext cx="4475880" cy="25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• Codebook und Referenzlabels wurden im Workshop geprüft.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• Prompt, Modell und Eingabeformat beeinflussen die Klassifikation.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• Wiederholte Läufe machen die Ergebnisstreuung sichtbar.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6648480" y="2238480"/>
            <a:ext cx="4857120" cy="316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6648480" y="2238480"/>
            <a:ext cx="4857120" cy="380160"/>
          </a:xfrm>
          <a:prstGeom prst="rect">
            <a:avLst/>
          </a:prstGeom>
          <a:solidFill>
            <a:srgbClr val="5B8F19"/>
          </a:solidFill>
          <a:ln w="0">
            <a:solidFill>
              <a:srgbClr val="5B8F1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6819840" y="2324160"/>
            <a:ext cx="4514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Nächste Schritte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6838920" y="2771640"/>
            <a:ext cx="4475880" cy="25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• Beste Konfiguration auf dem erweiterten Datensatz validieren.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• Weitere 70 Baugruppen ergänzen – Ziel: 199 Baugruppen.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• Fehler- und Grenzfälle dokumentieren.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170" b="0" u="none" strike="noStrike">
                <a:solidFill>
                  <a:srgbClr val="1D2B36"/>
                </a:solidFill>
                <a:effectLst/>
                <a:uFillTx/>
                <a:latin typeface="DejaVu Sans"/>
                <a:ea typeface="DejaVu Sans"/>
              </a:rPr>
              <a:t>• Metadatenextraktion beginnen.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704880" y="5715000"/>
            <a:ext cx="10800720" cy="447120"/>
          </a:xfrm>
          <a:prstGeom prst="roundRect">
            <a:avLst>
              <a:gd name="adj" fmla="val 17021"/>
            </a:avLst>
          </a:prstGeom>
          <a:solidFill>
            <a:srgbClr val="E8F3FA"/>
          </a:solidFill>
          <a:ln w="9525">
            <a:solidFill>
              <a:srgbClr val="CDE1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>
            <a:off x="971640" y="5867280"/>
            <a:ext cx="90478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004F90"/>
                </a:solidFill>
                <a:effectLst/>
                <a:uFillTx/>
                <a:latin typeface="DejaVu Sans"/>
                <a:ea typeface="DejaVu Sans"/>
              </a:rPr>
              <a:t>Ziel: eine nachvollziehbar bewertete LLM-Konfiguration für die Funktionsklassifikation von Baugruppen.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2026-10-05T10:34:35Z</dcterms:created>
  <dc:creator>Walnut Exporter</dc:creator>
  <dc:description/>
  <dc:language>en-US</dc:language>
  <cp:lastModifiedBy>Walnut Exporter</cp:lastModifiedBy>
  <dcterms:modified xsi:type="dcterms:W3CDTF">2026-10-05T10:34:35Z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