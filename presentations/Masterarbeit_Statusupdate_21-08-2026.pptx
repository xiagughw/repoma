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6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1" r:id="rId11"/>
    <p:sldId id="262" r:id="rId12"/>
  </p:sldIdLst>
  <p:sldSz cx="10969625" cy="6170613"/>
  <p:notesSz cx="6858000" cy="9144000"/>
  <p:custDataLst>
    <p:tags r:id="rId14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9C26F4A-4266-4B38-8832-6C52AE342142}">
          <p14:sldIdLst>
            <p14:sldId id="256"/>
            <p14:sldId id="257"/>
            <p14:sldId id="258"/>
            <p14:sldId id="259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FF"/>
    <a:srgbClr val="66FFFF"/>
    <a:srgbClr val="CCFFCC"/>
    <a:srgbClr val="996633"/>
    <a:srgbClr val="CC9900"/>
    <a:srgbClr val="92D050"/>
    <a:srgbClr val="00B050"/>
    <a:srgbClr val="F2CEEF"/>
    <a:srgbClr val="F7C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1" autoAdjust="0"/>
    <p:restoredTop sz="82203" autoAdjust="0"/>
  </p:normalViewPr>
  <p:slideViewPr>
    <p:cSldViewPr snapToGrid="0">
      <p:cViewPr varScale="1">
        <p:scale>
          <a:sx n="103" d="100"/>
          <a:sy n="103" d="100"/>
        </p:scale>
        <p:origin x="1065" y="51"/>
      </p:cViewPr>
      <p:guideLst/>
    </p:cSldViewPr>
  </p:slideViewPr>
  <p:outlineViewPr>
    <p:cViewPr>
      <p:scale>
        <a:sx n="33" d="100"/>
        <a:sy n="33" d="100"/>
      </p:scale>
      <p:origin x="0" y="-41744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BMG | Bosch Manufacturing Solutions | BMG-1DE/ENG11 | 28.10.2025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Manufacturing Solutions GmbH 2025.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200" y="2602898"/>
            <a:ext cx="9708316" cy="1507549"/>
          </a:xfrm>
        </p:spPr>
        <p:txBody>
          <a:bodyPr/>
          <a:lstStyle/>
          <a:p>
            <a:r>
              <a:rPr sz="3200" b="1">
                <a:solidFill>
                  <a:srgbClr val="000000"/>
                </a:solidFill>
                <a:latin typeface="Arial"/>
              </a:rPr>
              <a:t>Besprechung Masterarbeit am</a:t>
            </a:r>
          </a:p>
          <a:p>
            <a:r>
              <a:rPr sz="3200" b="1">
                <a:solidFill>
                  <a:srgbClr val="000000"/>
                </a:solidFill>
                <a:latin typeface="Arial"/>
              </a:rPr>
              <a:t>21.08.2026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zh-CN" dirty="0"/>
              <a:t>Duanni Wang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900">
                <a:solidFill>
                  <a:srgbClr val="696969"/>
                </a:solidFill>
                <a:latin typeface="Arial"/>
              </a:rPr>
              <a:t>Statusupdate Masterarbeit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Aktueller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rial"/>
              </a:rPr>
              <a:t>Abgeschlossen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74519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9650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74519"/>
            <a:ext cx="7132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Klassifikations- und Evaluationsskript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1343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9650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13432"/>
            <a:ext cx="7132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Multi-LLM-Anbindung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52344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9650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52344"/>
            <a:ext cx="7132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60 Baugruppen × 3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91256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9650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191256"/>
            <a:ext cx="7132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Workshop-Ergebnisse – 5 Ingenieure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rial"/>
              </a:rPr>
              <a:t>In Bearbeitung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96969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43400"/>
            <a:ext cx="7132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Aufbereitung fehlender Baugruppendaten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900">
                <a:solidFill>
                  <a:srgbClr val="696969"/>
                </a:solidFill>
                <a:latin typeface="Arial"/>
              </a:rPr>
              <a:t>Statusupdate Masterarbeit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Klassifikations-Pipeline &amp; LLM-Test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783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000000"/>
                </a:solidFill>
                <a:latin typeface="Arial"/>
              </a:rPr>
              <a:t>Baugruppendaten</a:t>
            </a:r>
            <a:endParaRPr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13432" y="1746504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96969"/>
                </a:solidFill>
                <a:latin typeface="Arial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45726" y="1600200"/>
            <a:ext cx="183483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Datenaufbereitung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7992" y="1746504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696969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563624"/>
            <a:ext cx="1600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LLM-
Klassifikation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261872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696969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188720"/>
            <a:ext cx="1965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Claude Opus 4.8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947672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696969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874519"/>
            <a:ext cx="1965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GPT-5.5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633472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696969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2560320"/>
            <a:ext cx="1965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Gemini 2.5 Pro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794760"/>
            <a:ext cx="21488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/>
              </a:rPr>
              <a:t>Ground-Truth-</a:t>
            </a:r>
            <a:r>
              <a:rPr sz="1300" b="1" dirty="0" err="1">
                <a:solidFill>
                  <a:srgbClr val="000000"/>
                </a:solidFill>
                <a:latin typeface="Arial"/>
              </a:rPr>
              <a:t>Vergleich</a:t>
            </a:r>
            <a:endParaRPr sz="13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52160" y="390448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96969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794760"/>
            <a:ext cx="1783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498848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96969"/>
                </a:solidFill>
                <a:latin typeface="Arial"/>
              </a:rPr>
              <a:t>Accuracy · Precision · Recall · F1 · Confusion Matrix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3108960"/>
            <a:ext cx="0" cy="32004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736592" y="3429000"/>
            <a:ext cx="3236976" cy="0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</p:cNvCxnSpPr>
          <p:nvPr/>
        </p:nvCxnSpPr>
        <p:spPr>
          <a:xfrm>
            <a:off x="4736592" y="3429000"/>
            <a:ext cx="0" cy="205392"/>
          </a:xfrm>
          <a:prstGeom prst="line">
            <a:avLst/>
          </a:prstGeom>
          <a:ln w="19050"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6">
            <a:extLst>
              <a:ext uri="{FF2B5EF4-FFF2-40B4-BE49-F238E27FC236}">
                <a16:creationId xmlns:a16="http://schemas.microsoft.com/office/drawing/2014/main" id="{F36B9E45-E912-BCED-AFB3-C95E0E4F1DDE}"/>
              </a:ext>
            </a:extLst>
          </p:cNvPr>
          <p:cNvSpPr txBox="1"/>
          <p:nvPr/>
        </p:nvSpPr>
        <p:spPr>
          <a:xfrm rot="5400000">
            <a:off x="4576992" y="3478317"/>
            <a:ext cx="365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696969"/>
                </a:solidFill>
                <a:latin typeface="Arial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900">
                <a:solidFill>
                  <a:srgbClr val="696969"/>
                </a:solidFill>
                <a:latin typeface="Arial"/>
              </a:rPr>
              <a:t>Statusupdate Masterarbeit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Technische Probleme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2331720" cy="438912"/>
          </a:xfrm>
          <a:prstGeom prst="rect">
            <a:avLst/>
          </a:prstGeom>
          <a:solidFill>
            <a:srgbClr val="EEEFF0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1280160"/>
            <a:ext cx="2331720" cy="438912"/>
          </a:xfrm>
          <a:prstGeom prst="rect">
            <a:avLst/>
          </a:prstGeom>
          <a:solidFill>
            <a:srgbClr val="EEEFF0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5808" y="1316736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Ursache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280160"/>
            <a:ext cx="3520440" cy="438912"/>
          </a:xfrm>
          <a:prstGeom prst="rect">
            <a:avLst/>
          </a:prstGeom>
          <a:solidFill>
            <a:srgbClr val="EEEFF0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04688" y="1316736"/>
            <a:ext cx="3392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Lösung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1280160"/>
            <a:ext cx="868680" cy="438912"/>
          </a:xfrm>
          <a:prstGeom prst="rect">
            <a:avLst/>
          </a:prstGeom>
          <a:solidFill>
            <a:srgbClr val="EEEFF0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53728" y="1316736"/>
            <a:ext cx="74066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000000"/>
                </a:solidFill>
                <a:latin typeface="Arial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23317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856232"/>
            <a:ext cx="2148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UNRECOGNISED
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1792224"/>
            <a:ext cx="23317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1856232"/>
            <a:ext cx="2148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000000"/>
                </a:solidFill>
                <a:latin typeface="Arial"/>
              </a:rPr>
              <a:t>Zu große Eingabedaten /
Request-Größe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792224"/>
            <a:ext cx="35204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2120" y="1856232"/>
            <a:ext cx="3337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Irrelevante Dateien → LLM_IGNORE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792224"/>
            <a:ext cx="8686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1792224"/>
            <a:ext cx="868680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965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72384"/>
            <a:ext cx="23317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136392"/>
            <a:ext cx="2148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Unvollständige /
leere Antworten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072384"/>
            <a:ext cx="23317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3136392"/>
            <a:ext cx="21488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000000"/>
                </a:solidFill>
                <a:latin typeface="Arial"/>
              </a:rPr>
              <a:t>Zu geringes bzw. ungeeignetes
Token-Budget für Reasoning-Modelle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3072384"/>
            <a:ext cx="35204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32120" y="3136392"/>
            <a:ext cx="3337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100 → 4096
angepasste API-Parameter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3072384"/>
            <a:ext cx="8686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3072384"/>
            <a:ext cx="868680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09650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813048"/>
            <a:ext cx="3337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rial"/>
              </a:rPr>
              <a:t>max_tokens → max_completion_tokens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15968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Finaler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61772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617720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Claude Opus 4.8   60/60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901183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901183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GPT-5.5   60/60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184648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184648"/>
            <a:ext cx="4114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Gemini 2.5 Pro   60/60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900">
                <a:solidFill>
                  <a:srgbClr val="696969"/>
                </a:solidFill>
                <a:latin typeface="Arial"/>
              </a:rPr>
              <a:t>Statusupdate Masterarbeit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Evaluation –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805" y="123444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rial"/>
              </a:rPr>
              <a:t>Modellvergleich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4805" y="1664208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805" y="205740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GPT-5.5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005" y="2084832"/>
            <a:ext cx="2788920" cy="22860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65005" y="2084832"/>
            <a:ext cx="2556602" cy="228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63653" y="2039112"/>
            <a:ext cx="685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91.67 %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805" y="277063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Claude Opus 4.8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65005" y="2798064"/>
            <a:ext cx="2788920" cy="22860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65005" y="2798064"/>
            <a:ext cx="2370582" cy="228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3653" y="2752344"/>
            <a:ext cx="685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85.00 %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805" y="3483864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Gemini 2.5 Pro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65005" y="3511296"/>
            <a:ext cx="2788920" cy="22860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65005" y="3511296"/>
            <a:ext cx="2370582" cy="228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63653" y="3465576"/>
            <a:ext cx="685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85.00 %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8325" y="1664208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Macro-F1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8325" y="205740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GPT-5.5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525" y="2084832"/>
            <a:ext cx="2788920" cy="22860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68525" y="2084832"/>
            <a:ext cx="2531223" cy="228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67173" y="2039112"/>
            <a:ext cx="685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90.76 %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325" y="277063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Claude Opus 4.8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8525" y="2798064"/>
            <a:ext cx="2788920" cy="22860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68525" y="2798064"/>
            <a:ext cx="2418272" cy="228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67173" y="2752344"/>
            <a:ext cx="685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86.71 %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8325" y="3483864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Gemini 2.5 Pro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525" y="3511296"/>
            <a:ext cx="2788920" cy="22860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68525" y="3511296"/>
            <a:ext cx="2337951" cy="228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67173" y="3465576"/>
            <a:ext cx="685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83.83 %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6052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Auffälligkeiten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480560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GPT-5.5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4480560"/>
            <a:ext cx="8503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Arial"/>
              </a:rPr>
              <a:t>Kombiniert: 5/10 korrekt  ·  3 → Multi-Achs  ·  2 → Rotationseinheit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818888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Claude Opus 4.8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818888"/>
            <a:ext cx="8503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Arial"/>
              </a:rPr>
              <a:t>Kombiniert: 5/10 korrekt  ·  5 → Multi-Achs  ·  weitere einzelne Fehlklassifikationen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57216"/>
            <a:ext cx="1508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Gemini 2.5 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157216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5F5F"/>
                </a:solidFill>
                <a:latin typeface="Arial"/>
              </a:rPr>
              <a:t>Kombiniert: 7/10 korrekt  ·  3 → Multi-Achs
Rotationseinheit: 8/10 korrekt  ·  2 → Kombiniert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900">
                <a:solidFill>
                  <a:srgbClr val="696969"/>
                </a:solidFill>
                <a:latin typeface="Arial"/>
              </a:rPr>
              <a:t>Statusupdate Masterarbeit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Mögliche 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1051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Codebook aus dem Workshop in den Prompt integrieren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803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81635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Klassenliste überprüfen / ggf. überarbeiten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BMG-1DE/ENG11</OrgInhalt>
      <Wert>BMG-1DE/ENG11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 C-SC1</OrgInhalt>
      <Wert>Intern C-SC1</Wert>
      <Platzhalter>False</Platzhalter>
      <DocDatenDialog>True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 C-SC1</OrgInhalt>
      <Wert>Intern C-SC1</Wert>
      <Platzhalter>False</Platzhalter>
      <DocDatenDialog>False</DocDatenDialog>
      <Label>Schutzklasse:</Label>
      <FrageVar>False</FrageVar>
      <Prefix/>
      <Suffix/>
      <WegfallVar/>
      <ComboBox>
        <Option>Öffentlich C-SC0</Option>
        <Option>Intern C-SC1</Option>
        <Option>Vertraulich C-SC2</Option>
        <Option>Streng vertraulich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Manufacturing Solutions GmbH 2025. Alle Rechte vorbehalten, auch bzgl. jeder Verfügung, Verwertung, Reproduktion, Bearbeitung, Weitergabe sowie für den Fall von Schutzrechtsanmeldungen.</OrgInhalt>
      <Wert>© Robert Bosch Manufacturing Solutions GmbH 2025.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28.10.2025</OrgInhalt>
      <Wert>28.10.2025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BMG | Bosch Manufacturing Solutions</OrgInhalt>
      <Wert>BMG | Bosch Manufacturing 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3fdc5e-9d04-4259-928d-f68da5d67bd3">
      <Terms xmlns="http://schemas.microsoft.com/office/infopath/2007/PartnerControls"/>
    </lcf76f155ced4ddcb4097134ff3c332f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9124C1584D8A4BB6F1F865BC270BEB" ma:contentTypeVersion="10" ma:contentTypeDescription="Create a new document." ma:contentTypeScope="" ma:versionID="ede2e749fe8c460cb844de9508d12212">
  <xsd:schema xmlns:xsd="http://www.w3.org/2001/XMLSchema" xmlns:xs="http://www.w3.org/2001/XMLSchema" xmlns:p="http://schemas.microsoft.com/office/2006/metadata/properties" xmlns:ns2="a93fdc5e-9d04-4259-928d-f68da5d67bd3" targetNamespace="http://schemas.microsoft.com/office/2006/metadata/properties" ma:root="true" ma:fieldsID="0235e715146a4dba91b02b16eac4dc82" ns2:_="">
    <xsd:import namespace="a93fdc5e-9d04-4259-928d-f68da5d67b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3fdc5e-9d04-4259-928d-f68da5d67b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e50c28b-242c-4b51-be91-908d42243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customXml/itemProps3.xml><?xml version="1.0" encoding="utf-8"?>
<ds:datastoreItem xmlns:ds="http://schemas.openxmlformats.org/officeDocument/2006/customXml" ds:itemID="{37512B84-425C-48B2-A2AA-F7A51F3D2146}">
  <ds:schemaRefs>
    <ds:schemaRef ds:uri="http://schemas.microsoft.com/office/2006/metadata/properties"/>
    <ds:schemaRef ds:uri="http://schemas.microsoft.com/office/infopath/2007/PartnerControls"/>
    <ds:schemaRef ds:uri="a93fdc5e-9d04-4259-928d-f68da5d67bd3"/>
  </ds:schemaRefs>
</ds:datastoreItem>
</file>

<file path=customXml/itemProps4.xml><?xml version="1.0" encoding="utf-8"?>
<ds:datastoreItem xmlns:ds="http://schemas.openxmlformats.org/officeDocument/2006/customXml" ds:itemID="{382F4CC3-1D30-42E8-A56F-2034FDB1D14C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8BC8E021-3DF0-4173-BF4A-F10798A0B9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3fdc5e-9d04-4259-928d-f68da5d67b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244</Words>
  <Application>Microsoft Office PowerPoint</Application>
  <PresentationFormat>Benutzerdefiniert</PresentationFormat>
  <Paragraphs>87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Bosch Office Sans</vt:lpstr>
      <vt:lpstr>Arial</vt:lpstr>
      <vt:lpstr>Calibri</vt:lpstr>
      <vt:lpstr>Symbol</vt:lpstr>
      <vt:lpstr>Wingdings</vt:lpstr>
      <vt:lpstr>Bosch 2024</vt:lpstr>
      <vt:lpstr>Besprechung Masterarbeit am 21.08.2026</vt:lpstr>
      <vt:lpstr>Aktueller Stand</vt:lpstr>
      <vt:lpstr>Klassifikations-Pipeline &amp; LLM-Test</vt:lpstr>
      <vt:lpstr>Technische Probleme</vt:lpstr>
      <vt:lpstr>Evaluation – Ground Truth</vt:lpstr>
      <vt:lpstr>Mögliche 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Bullinger Anja (BMG-1DE/ENG11)</dc:creator>
  <cp:lastModifiedBy>Duanni Wang</cp:lastModifiedBy>
  <cp:revision>6</cp:revision>
  <dcterms:created xsi:type="dcterms:W3CDTF">2025-10-28T16:07:10Z</dcterms:created>
  <dcterms:modified xsi:type="dcterms:W3CDTF">2026-08-21T10:49:23Z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0x010100849124C1584D8A4BB6F1F865BC270BEB</vt:lpwstr>
  </property>
  <property fmtid="{D5CDD505-2E9C-101B-9397-08002B2CF9AE}" pid="9" name="MediaServiceImageTags">
    <vt:lpwstr/>
  </property>
</Properties>
</file>